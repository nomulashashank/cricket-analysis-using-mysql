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61" r:id="rId38"/>
    <p:sldId id="293" r:id="rId39"/>
    <p:sldId id="29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94660"/>
  </p:normalViewPr>
  <p:slideViewPr>
    <p:cSldViewPr snapToGrid="0">
      <p:cViewPr varScale="1">
        <p:scale>
          <a:sx n="57" d="100"/>
          <a:sy n="57" d="100"/>
        </p:scale>
        <p:origin x="102" y="6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97A0B-78B3-48FF-9B08-985AF1AE59E4}" type="datetimeFigureOut">
              <a:rPr lang="en-IN" smtClean="0"/>
              <a:t>16-09-2025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1E9690-31E0-452B-B189-8FB5A4A7FC36}" type="slidenum">
              <a:rPr lang="en-IN" smtClean="0"/>
              <a:t>‹#›</a:t>
            </a:fld>
            <a:endParaRPr lang="en-IN"/>
          </a:p>
        </p:txBody>
      </p:sp>
    </p:spTree>
    <p:extLst>
      <p:ext uri="{BB962C8B-B14F-4D97-AF65-F5344CB8AC3E}">
        <p14:creationId xmlns:p14="http://schemas.microsoft.com/office/powerpoint/2010/main" val="4276260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1E9690-31E0-452B-B189-8FB5A4A7FC36}" type="slidenum">
              <a:rPr lang="en-IN" smtClean="0"/>
              <a:t>37</a:t>
            </a:fld>
            <a:endParaRPr lang="en-IN"/>
          </a:p>
        </p:txBody>
      </p:sp>
    </p:spTree>
    <p:extLst>
      <p:ext uri="{BB962C8B-B14F-4D97-AF65-F5344CB8AC3E}">
        <p14:creationId xmlns:p14="http://schemas.microsoft.com/office/powerpoint/2010/main" val="1126873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E0BDF-EE90-951B-3639-1A2D875CC8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179140F-4DA7-6934-CD13-ADDDF6E318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27B95E-03C2-93B6-FA5E-CF23D3D597B6}"/>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5" name="Footer Placeholder 4">
            <a:extLst>
              <a:ext uri="{FF2B5EF4-FFF2-40B4-BE49-F238E27FC236}">
                <a16:creationId xmlns:a16="http://schemas.microsoft.com/office/drawing/2014/main" id="{1EFBC202-343F-ED5E-DFDC-5A2660BBF4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071505-B0A3-D681-8F53-00776689137A}"/>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177928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68161-E28D-5F78-88C5-E0AA84356E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CB161E-F67D-A10F-A957-8B7D49C61E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FF3492-C53B-B16F-C4D4-DA19B96C187B}"/>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5" name="Footer Placeholder 4">
            <a:extLst>
              <a:ext uri="{FF2B5EF4-FFF2-40B4-BE49-F238E27FC236}">
                <a16:creationId xmlns:a16="http://schemas.microsoft.com/office/drawing/2014/main" id="{014C8A98-9FA7-94C9-F508-7F337116BF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C6457D-14E0-23FA-7CBC-88E53C2BF53B}"/>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3772813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1D92C-B2F7-A27B-8503-931E620E98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6B21F2-3137-09DA-0AF7-C902709DED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BCBD20-A2F3-0061-81ED-948C181A61FD}"/>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5" name="Footer Placeholder 4">
            <a:extLst>
              <a:ext uri="{FF2B5EF4-FFF2-40B4-BE49-F238E27FC236}">
                <a16:creationId xmlns:a16="http://schemas.microsoft.com/office/drawing/2014/main" id="{45520A47-FF67-1760-F062-392B4EF528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4239EF-2F15-D45C-D796-79AE720DB62A}"/>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1774419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4602C-EBB9-A357-0AD9-192833BE65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663293-DBEA-880F-6A6A-62E077C302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171007-4CEA-A97B-0A3A-73C5C2E375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078556-BCAD-567A-598B-38513AEE6055}"/>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6" name="Footer Placeholder 5">
            <a:extLst>
              <a:ext uri="{FF2B5EF4-FFF2-40B4-BE49-F238E27FC236}">
                <a16:creationId xmlns:a16="http://schemas.microsoft.com/office/drawing/2014/main" id="{0B6E02B4-F0AD-2E7F-43D5-632B0DB36E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9158E4-B3BB-60CC-A92E-89634C26BE0F}"/>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3703996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614CC-60CB-B914-8F51-0C222B9532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BDAD41-1054-60EB-E144-9EDC312D1D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7F5B64-4F6A-25D0-F868-FCA9D98C17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00BBAA-1F97-EB43-0E7A-DED26686DF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5D2342-86A5-9EE7-6AAB-3A49F8494F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C820FF-B11E-3A2D-4C1F-ECB51A0B7844}"/>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8" name="Footer Placeholder 7">
            <a:extLst>
              <a:ext uri="{FF2B5EF4-FFF2-40B4-BE49-F238E27FC236}">
                <a16:creationId xmlns:a16="http://schemas.microsoft.com/office/drawing/2014/main" id="{D875278C-7CE8-92C7-4821-EC8C5023DF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A6BA91-0334-C5A8-E0A6-5D3B9A56C336}"/>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2574650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4B179-E010-3B50-F520-051D7AF92D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FE934B-B0CF-4222-4842-13B675C87732}"/>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4" name="Footer Placeholder 3">
            <a:extLst>
              <a:ext uri="{FF2B5EF4-FFF2-40B4-BE49-F238E27FC236}">
                <a16:creationId xmlns:a16="http://schemas.microsoft.com/office/drawing/2014/main" id="{7B572712-B1D1-969F-93EF-5F97F832A3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B26924-BEE3-D94A-E0E9-119CA92815D1}"/>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3323915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0C535-B22C-F424-0F42-27F02DC2F627}"/>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3" name="Footer Placeholder 2">
            <a:extLst>
              <a:ext uri="{FF2B5EF4-FFF2-40B4-BE49-F238E27FC236}">
                <a16:creationId xmlns:a16="http://schemas.microsoft.com/office/drawing/2014/main" id="{34DEC89A-9103-2A44-728E-EAD07F118D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2E587E-48E6-ED4D-9543-6030BCD65C1B}"/>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2068245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9B3AE-7ABA-E0B2-58E3-C110F80EA4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E5A662-5B22-BCCA-3386-E8198E4BE0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37FD9D-A759-8DA2-8B49-883FF3442F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56F099-2A3A-78BD-CA44-39733ACA9425}"/>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6" name="Footer Placeholder 5">
            <a:extLst>
              <a:ext uri="{FF2B5EF4-FFF2-40B4-BE49-F238E27FC236}">
                <a16:creationId xmlns:a16="http://schemas.microsoft.com/office/drawing/2014/main" id="{F1DCF483-4236-E61F-1CAE-D26AD9D03F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ADEEB3-351B-5155-B6AB-1A8A4733280B}"/>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2551075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9F8D6-381A-F972-2E73-72FA941ADC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1927F01-9094-845B-4B46-3A2AD7C11F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9242E41-5927-773B-74F3-402FAC8DE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BC2107-ABE3-51F1-026F-803DABD6B21C}"/>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6" name="Footer Placeholder 5">
            <a:extLst>
              <a:ext uri="{FF2B5EF4-FFF2-40B4-BE49-F238E27FC236}">
                <a16:creationId xmlns:a16="http://schemas.microsoft.com/office/drawing/2014/main" id="{213010B0-F859-5598-59A9-FAC9B138F0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C11FC7-EEA3-54C0-B75F-273C28D1A753}"/>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3171514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4475-2BB6-C9D4-6507-20CC7BA841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BA45AE-9943-F9E0-6220-742E444694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24F80F-D4B2-5F03-ED4F-6D48D34EB7B4}"/>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5" name="Footer Placeholder 4">
            <a:extLst>
              <a:ext uri="{FF2B5EF4-FFF2-40B4-BE49-F238E27FC236}">
                <a16:creationId xmlns:a16="http://schemas.microsoft.com/office/drawing/2014/main" id="{00EE0203-F0B4-8C7F-5B68-F0C03F35F5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778A61-66AE-3986-0B58-E61978ED65E2}"/>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2372694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4A89AA-B7A1-CA06-7834-58C4408502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DD2DA2-A737-9B68-85AA-A2CB71EF43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2CB283-97D3-FB77-482E-06580950BA68}"/>
              </a:ext>
            </a:extLst>
          </p:cNvPr>
          <p:cNvSpPr>
            <a:spLocks noGrp="1"/>
          </p:cNvSpPr>
          <p:nvPr>
            <p:ph type="dt" sz="half" idx="10"/>
          </p:nvPr>
        </p:nvSpPr>
        <p:spPr/>
        <p:txBody>
          <a:bodyPr/>
          <a:lstStyle/>
          <a:p>
            <a:fld id="{8BD8C571-41E1-47FE-A773-823DB1B93CF8}" type="datetimeFigureOut">
              <a:rPr lang="en-IN" smtClean="0"/>
              <a:t>16-09-2025</a:t>
            </a:fld>
            <a:endParaRPr lang="en-IN"/>
          </a:p>
        </p:txBody>
      </p:sp>
      <p:sp>
        <p:nvSpPr>
          <p:cNvPr id="5" name="Footer Placeholder 4">
            <a:extLst>
              <a:ext uri="{FF2B5EF4-FFF2-40B4-BE49-F238E27FC236}">
                <a16:creationId xmlns:a16="http://schemas.microsoft.com/office/drawing/2014/main" id="{4759F57B-82D2-B1D2-EC95-0BACAC63D1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CFD739-3837-2AA4-14D1-05DFD6DBED8E}"/>
              </a:ext>
            </a:extLst>
          </p:cNvPr>
          <p:cNvSpPr>
            <a:spLocks noGrp="1"/>
          </p:cNvSpPr>
          <p:nvPr>
            <p:ph type="sldNum" sz="quarter" idx="12"/>
          </p:nvPr>
        </p:nvSpPr>
        <p:spPr/>
        <p:txBody>
          <a:bodyPr/>
          <a:lstStyle/>
          <a:p>
            <a:fld id="{54065E68-8DD8-4BD0-8BB0-4726FDB66657}" type="slidenum">
              <a:rPr lang="en-IN" smtClean="0"/>
              <a:t>‹#›</a:t>
            </a:fld>
            <a:endParaRPr lang="en-IN"/>
          </a:p>
        </p:txBody>
      </p:sp>
    </p:spTree>
    <p:extLst>
      <p:ext uri="{BB962C8B-B14F-4D97-AF65-F5344CB8AC3E}">
        <p14:creationId xmlns:p14="http://schemas.microsoft.com/office/powerpoint/2010/main" val="227888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F4AF79-ECC7-57EA-7A90-F6AFD874C4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DDF969-3242-6EE4-6BC9-A1FA621442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3139E4-A3E1-F41C-5AC8-57AF42738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D8C571-41E1-47FE-A773-823DB1B93CF8}" type="datetimeFigureOut">
              <a:rPr lang="en-IN" smtClean="0"/>
              <a:t>16-09-2025</a:t>
            </a:fld>
            <a:endParaRPr lang="en-IN"/>
          </a:p>
        </p:txBody>
      </p:sp>
      <p:sp>
        <p:nvSpPr>
          <p:cNvPr id="5" name="Footer Placeholder 4">
            <a:extLst>
              <a:ext uri="{FF2B5EF4-FFF2-40B4-BE49-F238E27FC236}">
                <a16:creationId xmlns:a16="http://schemas.microsoft.com/office/drawing/2014/main" id="{B6CF8217-67B5-DD49-BE94-4F14C41C87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6DD8DFE-E581-2115-4251-53189B6192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065E68-8DD8-4BD0-8BB0-4726FDB66657}" type="slidenum">
              <a:rPr lang="en-IN" smtClean="0"/>
              <a:t>‹#›</a:t>
            </a:fld>
            <a:endParaRPr lang="en-IN"/>
          </a:p>
        </p:txBody>
      </p:sp>
    </p:spTree>
    <p:extLst>
      <p:ext uri="{BB962C8B-B14F-4D97-AF65-F5344CB8AC3E}">
        <p14:creationId xmlns:p14="http://schemas.microsoft.com/office/powerpoint/2010/main" val="3896336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5483C-93F0-B944-ECF2-39357DCA282B}"/>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7B68B26E-59AF-0356-BF88-6E4FC307B915}"/>
              </a:ext>
            </a:extLst>
          </p:cNvPr>
          <p:cNvSpPr>
            <a:spLocks noGrp="1"/>
          </p:cNvSpPr>
          <p:nvPr>
            <p:ph type="subTitle" idx="1"/>
          </p:nvPr>
        </p:nvSpPr>
        <p:spPr/>
        <p:txBody>
          <a:bodyPr/>
          <a:lstStyle/>
          <a:p>
            <a:endParaRPr lang="en-IN"/>
          </a:p>
        </p:txBody>
      </p:sp>
      <p:pic>
        <p:nvPicPr>
          <p:cNvPr id="1026" name="Picture 2">
            <a:extLst>
              <a:ext uri="{FF2B5EF4-FFF2-40B4-BE49-F238E27FC236}">
                <a16:creationId xmlns:a16="http://schemas.microsoft.com/office/drawing/2014/main" id="{E24C9E79-B3AF-67DE-A121-97D7031DF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271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E657EC-AC61-73DF-D9E2-279C8BC4621F}"/>
              </a:ext>
            </a:extLst>
          </p:cNvPr>
          <p:cNvSpPr txBox="1"/>
          <p:nvPr/>
        </p:nvSpPr>
        <p:spPr>
          <a:xfrm>
            <a:off x="410993" y="1720840"/>
            <a:ext cx="11456752" cy="2862322"/>
          </a:xfrm>
          <a:prstGeom prst="rect">
            <a:avLst/>
          </a:prstGeom>
          <a:noFill/>
        </p:spPr>
        <p:txBody>
          <a:bodyPr wrap="square">
            <a:spAutoFit/>
          </a:bodyPr>
          <a:lstStyle/>
          <a:p>
            <a:pPr algn="just"/>
            <a:r>
              <a:rPr lang="en-US" sz="3600" dirty="0">
                <a:latin typeface="Times New Roman" panose="02020603050405020304" pitchFamily="18" charset="0"/>
                <a:cs typeface="Times New Roman" panose="02020603050405020304" pitchFamily="18" charset="0"/>
              </a:rPr>
              <a:t>Cricket is one of the most followed sports worldwide, generating massive amounts of data across teams, players, and matches. Analyzing this data provides valuable insights into player performance, team strengths, and match outcomes</a:t>
            </a:r>
            <a:r>
              <a:rPr lang="en-US" dirty="0"/>
              <a:t>.</a:t>
            </a:r>
            <a:endParaRPr lang="en-IN" dirty="0"/>
          </a:p>
        </p:txBody>
      </p:sp>
      <p:sp>
        <p:nvSpPr>
          <p:cNvPr id="5" name="TextBox 4">
            <a:extLst>
              <a:ext uri="{FF2B5EF4-FFF2-40B4-BE49-F238E27FC236}">
                <a16:creationId xmlns:a16="http://schemas.microsoft.com/office/drawing/2014/main" id="{C0A4A5B9-CFA9-84EA-CBC7-AE1424FDF378}"/>
              </a:ext>
            </a:extLst>
          </p:cNvPr>
          <p:cNvSpPr txBox="1"/>
          <p:nvPr/>
        </p:nvSpPr>
        <p:spPr>
          <a:xfrm>
            <a:off x="3825402" y="150937"/>
            <a:ext cx="6094378"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INTRODUCTION</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9355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6EB6E9-51D9-310B-4607-DB632DDFEE72}"/>
              </a:ext>
            </a:extLst>
          </p:cNvPr>
          <p:cNvSpPr txBox="1"/>
          <p:nvPr/>
        </p:nvSpPr>
        <p:spPr>
          <a:xfrm>
            <a:off x="4126959" y="102300"/>
            <a:ext cx="6094378"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OBJECTIVE</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2B6449D-E28B-2163-23DA-411888418BB7}"/>
              </a:ext>
            </a:extLst>
          </p:cNvPr>
          <p:cNvSpPr>
            <a:spLocks noChangeArrowheads="1"/>
          </p:cNvSpPr>
          <p:nvPr/>
        </p:nvSpPr>
        <p:spPr bwMode="auto">
          <a:xfrm>
            <a:off x="262647" y="1164354"/>
            <a:ext cx="11702374" cy="5080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a relational database for cricket tournaments covering Teams, Players, Matches, Batting and Bowling statistics.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Query the database to extract meaningful insights such as:</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-Top batsmen and bowlers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-Match outcomes and winning patterns</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-Player contributions by role and team</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-Performance trends across ODI and T20 formats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analysis </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that helps in understanding team strategies, player consistency, and overall tournament highlights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172220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33F796-CA33-1182-AD01-1E833FD3F3D7}"/>
              </a:ext>
            </a:extLst>
          </p:cNvPr>
          <p:cNvSpPr txBox="1"/>
          <p:nvPr/>
        </p:nvSpPr>
        <p:spPr>
          <a:xfrm>
            <a:off x="2920730" y="82844"/>
            <a:ext cx="6094378"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A9C0B072-F650-7F1D-0905-CB60B64E5971}"/>
              </a:ext>
            </a:extLst>
          </p:cNvPr>
          <p:cNvSpPr txBox="1"/>
          <p:nvPr/>
        </p:nvSpPr>
        <p:spPr>
          <a:xfrm>
            <a:off x="478276" y="1166842"/>
            <a:ext cx="11235447" cy="4524315"/>
          </a:xfrm>
          <a:prstGeom prst="rect">
            <a:avLst/>
          </a:prstGeom>
          <a:noFill/>
        </p:spPr>
        <p:txBody>
          <a:bodyPr wrap="square">
            <a:spAutoFit/>
          </a:bodyPr>
          <a:lstStyle/>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Cricket tournaments involve a vast amount of structured and unstructured data such as player performances, team rankings, and match results.</a:t>
            </a:r>
          </a:p>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Manually analyzing this data is time-consuming and may lead to overlooked insights.</a:t>
            </a:r>
          </a:p>
          <a:p>
            <a:pPr marL="571500" indent="-5715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There is a need for a system that can:</a:t>
            </a:r>
          </a:p>
          <a:p>
            <a:r>
              <a:rPr lang="en-US" sz="3200" dirty="0">
                <a:latin typeface="Times New Roman" panose="02020603050405020304" pitchFamily="18" charset="0"/>
                <a:cs typeface="Times New Roman" panose="02020603050405020304" pitchFamily="18" charset="0"/>
              </a:rPr>
              <a:t>       -Organize cricket data in a structured relational database.</a:t>
            </a:r>
          </a:p>
          <a:p>
            <a:r>
              <a:rPr lang="en-US" sz="3200" dirty="0">
                <a:latin typeface="Times New Roman" panose="02020603050405020304" pitchFamily="18" charset="0"/>
                <a:cs typeface="Times New Roman" panose="02020603050405020304" pitchFamily="18" charset="0"/>
              </a:rPr>
              <a:t>       -Efficiently retrieve and analyze performance metrics.</a:t>
            </a:r>
          </a:p>
          <a:p>
            <a:r>
              <a:rPr lang="en-US" sz="3200" dirty="0">
                <a:latin typeface="Times New Roman" panose="02020603050405020304" pitchFamily="18" charset="0"/>
                <a:cs typeface="Times New Roman" panose="02020603050405020304" pitchFamily="18" charset="0"/>
              </a:rPr>
              <a:t>       -Provide actionable insights for decision-making</a:t>
            </a:r>
            <a:r>
              <a:rPr lang="en-US" dirty="0"/>
              <a:t>.</a:t>
            </a:r>
          </a:p>
        </p:txBody>
      </p:sp>
    </p:spTree>
    <p:extLst>
      <p:ext uri="{BB962C8B-B14F-4D97-AF65-F5344CB8AC3E}">
        <p14:creationId xmlns:p14="http://schemas.microsoft.com/office/powerpoint/2010/main" val="94745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A3E415-E19F-4ACA-6132-072328C9EFC3}"/>
              </a:ext>
            </a:extLst>
          </p:cNvPr>
          <p:cNvSpPr txBox="1"/>
          <p:nvPr/>
        </p:nvSpPr>
        <p:spPr>
          <a:xfrm>
            <a:off x="2872091" y="-101981"/>
            <a:ext cx="6094378"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TABLES IN MY DATABASE</a:t>
            </a:r>
          </a:p>
        </p:txBody>
      </p:sp>
      <p:sp>
        <p:nvSpPr>
          <p:cNvPr id="5" name="TextBox 4">
            <a:extLst>
              <a:ext uri="{FF2B5EF4-FFF2-40B4-BE49-F238E27FC236}">
                <a16:creationId xmlns:a16="http://schemas.microsoft.com/office/drawing/2014/main" id="{7B430653-E20F-C82A-6CD1-4509D4876FCC}"/>
              </a:ext>
            </a:extLst>
          </p:cNvPr>
          <p:cNvSpPr txBox="1"/>
          <p:nvPr/>
        </p:nvSpPr>
        <p:spPr>
          <a:xfrm>
            <a:off x="498542" y="705415"/>
            <a:ext cx="6094378" cy="369332"/>
          </a:xfrm>
          <a:prstGeom prst="rect">
            <a:avLst/>
          </a:prstGeom>
          <a:noFill/>
        </p:spPr>
        <p:txBody>
          <a:bodyPr wrap="square">
            <a:spAutoFit/>
          </a:bodyPr>
          <a:lstStyle/>
          <a:p>
            <a:r>
              <a:rPr lang="en-IN" b="1" dirty="0"/>
              <a:t>1</a:t>
            </a:r>
            <a:r>
              <a:rPr lang="en-IN" b="1" dirty="0">
                <a:latin typeface="Times New Roman" panose="02020603050405020304" pitchFamily="18" charset="0"/>
                <a:cs typeface="Times New Roman" panose="02020603050405020304" pitchFamily="18" charset="0"/>
              </a:rPr>
              <a:t>.Teams Table</a:t>
            </a:r>
          </a:p>
        </p:txBody>
      </p:sp>
      <p:pic>
        <p:nvPicPr>
          <p:cNvPr id="7" name="Picture 6">
            <a:extLst>
              <a:ext uri="{FF2B5EF4-FFF2-40B4-BE49-F238E27FC236}">
                <a16:creationId xmlns:a16="http://schemas.microsoft.com/office/drawing/2014/main" id="{690683C4-68DC-DB66-137C-9398B02F4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560" y="1074746"/>
            <a:ext cx="3606155" cy="1190791"/>
          </a:xfrm>
          <a:prstGeom prst="rect">
            <a:avLst/>
          </a:prstGeom>
        </p:spPr>
      </p:pic>
      <p:sp>
        <p:nvSpPr>
          <p:cNvPr id="9" name="TextBox 8">
            <a:extLst>
              <a:ext uri="{FF2B5EF4-FFF2-40B4-BE49-F238E27FC236}">
                <a16:creationId xmlns:a16="http://schemas.microsoft.com/office/drawing/2014/main" id="{26DA98EE-F48E-5A46-7E74-A703F7969DE1}"/>
              </a:ext>
            </a:extLst>
          </p:cNvPr>
          <p:cNvSpPr txBox="1"/>
          <p:nvPr/>
        </p:nvSpPr>
        <p:spPr>
          <a:xfrm>
            <a:off x="6592920" y="705415"/>
            <a:ext cx="609437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2.Players Table</a:t>
            </a:r>
          </a:p>
        </p:txBody>
      </p:sp>
      <p:pic>
        <p:nvPicPr>
          <p:cNvPr id="11" name="Picture 10">
            <a:extLst>
              <a:ext uri="{FF2B5EF4-FFF2-40B4-BE49-F238E27FC236}">
                <a16:creationId xmlns:a16="http://schemas.microsoft.com/office/drawing/2014/main" id="{1EB6C36E-6670-AC24-46BE-8DFAFC56CE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8938" y="1074745"/>
            <a:ext cx="3718024" cy="1190791"/>
          </a:xfrm>
          <a:prstGeom prst="rect">
            <a:avLst/>
          </a:prstGeom>
        </p:spPr>
      </p:pic>
      <p:sp>
        <p:nvSpPr>
          <p:cNvPr id="13" name="TextBox 12">
            <a:extLst>
              <a:ext uri="{FF2B5EF4-FFF2-40B4-BE49-F238E27FC236}">
                <a16:creationId xmlns:a16="http://schemas.microsoft.com/office/drawing/2014/main" id="{CDE18775-99D9-F0E9-C590-6337E6CF4506}"/>
              </a:ext>
            </a:extLst>
          </p:cNvPr>
          <p:cNvSpPr txBox="1"/>
          <p:nvPr/>
        </p:nvSpPr>
        <p:spPr>
          <a:xfrm>
            <a:off x="654559" y="2514095"/>
            <a:ext cx="6342434"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3.Matches Table</a:t>
            </a:r>
          </a:p>
        </p:txBody>
      </p:sp>
      <p:pic>
        <p:nvPicPr>
          <p:cNvPr id="15" name="Picture 14">
            <a:extLst>
              <a:ext uri="{FF2B5EF4-FFF2-40B4-BE49-F238E27FC236}">
                <a16:creationId xmlns:a16="http://schemas.microsoft.com/office/drawing/2014/main" id="{DCB75878-ED8B-BB90-D826-AFF24C5467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391" y="2966738"/>
            <a:ext cx="3606155" cy="1343212"/>
          </a:xfrm>
          <a:prstGeom prst="rect">
            <a:avLst/>
          </a:prstGeom>
        </p:spPr>
      </p:pic>
      <p:sp>
        <p:nvSpPr>
          <p:cNvPr id="17" name="TextBox 16">
            <a:extLst>
              <a:ext uri="{FF2B5EF4-FFF2-40B4-BE49-F238E27FC236}">
                <a16:creationId xmlns:a16="http://schemas.microsoft.com/office/drawing/2014/main" id="{21F9CB29-2112-2DC0-3C98-EE149E39B4B4}"/>
              </a:ext>
            </a:extLst>
          </p:cNvPr>
          <p:cNvSpPr txBox="1"/>
          <p:nvPr/>
        </p:nvSpPr>
        <p:spPr>
          <a:xfrm>
            <a:off x="6592920" y="2514095"/>
            <a:ext cx="6342434"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4.Batting_Stats Table</a:t>
            </a:r>
          </a:p>
        </p:txBody>
      </p:sp>
      <p:pic>
        <p:nvPicPr>
          <p:cNvPr id="19" name="Picture 18">
            <a:extLst>
              <a:ext uri="{FF2B5EF4-FFF2-40B4-BE49-F238E27FC236}">
                <a16:creationId xmlns:a16="http://schemas.microsoft.com/office/drawing/2014/main" id="{F5512427-47E3-E8B7-9E65-7D5028CBA3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8938" y="2966738"/>
            <a:ext cx="3718024" cy="1259901"/>
          </a:xfrm>
          <a:prstGeom prst="rect">
            <a:avLst/>
          </a:prstGeom>
        </p:spPr>
      </p:pic>
      <p:sp>
        <p:nvSpPr>
          <p:cNvPr id="21" name="TextBox 20">
            <a:extLst>
              <a:ext uri="{FF2B5EF4-FFF2-40B4-BE49-F238E27FC236}">
                <a16:creationId xmlns:a16="http://schemas.microsoft.com/office/drawing/2014/main" id="{D1C848B4-3959-A3AC-5701-5B7D8437E1E5}"/>
              </a:ext>
            </a:extLst>
          </p:cNvPr>
          <p:cNvSpPr txBox="1"/>
          <p:nvPr/>
        </p:nvSpPr>
        <p:spPr>
          <a:xfrm>
            <a:off x="674391" y="4533533"/>
            <a:ext cx="646889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5.Bowling_Stats Table</a:t>
            </a:r>
          </a:p>
        </p:txBody>
      </p:sp>
      <p:pic>
        <p:nvPicPr>
          <p:cNvPr id="23" name="Picture 22">
            <a:extLst>
              <a:ext uri="{FF2B5EF4-FFF2-40B4-BE49-F238E27FC236}">
                <a16:creationId xmlns:a16="http://schemas.microsoft.com/office/drawing/2014/main" id="{3A6C3FD9-1A09-9445-FDD5-2072AEEFC9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4391" y="5126449"/>
            <a:ext cx="3586324" cy="1352739"/>
          </a:xfrm>
          <a:prstGeom prst="rect">
            <a:avLst/>
          </a:prstGeom>
        </p:spPr>
      </p:pic>
    </p:spTree>
    <p:extLst>
      <p:ext uri="{BB962C8B-B14F-4D97-AF65-F5344CB8AC3E}">
        <p14:creationId xmlns:p14="http://schemas.microsoft.com/office/powerpoint/2010/main" val="1997006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BD5B5B-7923-4726-BC06-A51E074F23D5}"/>
              </a:ext>
            </a:extLst>
          </p:cNvPr>
          <p:cNvSpPr txBox="1"/>
          <p:nvPr/>
        </p:nvSpPr>
        <p:spPr>
          <a:xfrm>
            <a:off x="4282602" y="0"/>
            <a:ext cx="6094378"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SCENARIOS</a:t>
            </a:r>
            <a:endParaRPr lang="en-IN" sz="3600" dirty="0">
              <a:latin typeface="Times New Roman" panose="02020603050405020304" pitchFamily="18" charset="0"/>
              <a:cs typeface="Times New Roman" panose="02020603050405020304" pitchFamily="18" charset="0"/>
            </a:endParaRPr>
          </a:p>
        </p:txBody>
      </p:sp>
      <p:sp>
        <p:nvSpPr>
          <p:cNvPr id="4" name="Cloud 3">
            <a:extLst>
              <a:ext uri="{FF2B5EF4-FFF2-40B4-BE49-F238E27FC236}">
                <a16:creationId xmlns:a16="http://schemas.microsoft.com/office/drawing/2014/main" id="{D6A9F7C7-0DC0-E653-6F5D-93B43C7084D2}"/>
              </a:ext>
            </a:extLst>
          </p:cNvPr>
          <p:cNvSpPr/>
          <p:nvPr/>
        </p:nvSpPr>
        <p:spPr>
          <a:xfrm>
            <a:off x="1009650" y="1466850"/>
            <a:ext cx="3695700" cy="1543050"/>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1</a:t>
            </a:r>
            <a:r>
              <a:rPr lang="en-US" dirty="0">
                <a:latin typeface="Times New Roman" panose="02020603050405020304" pitchFamily="18" charset="0"/>
                <a:cs typeface="Times New Roman" panose="02020603050405020304" pitchFamily="18" charset="0"/>
              </a:rPr>
              <a:t>. List all players who are bowlers.</a:t>
            </a:r>
            <a:endParaRPr lang="en-IN"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BF402A5D-A9EB-E658-A3B9-2BDC440D3DF1}"/>
              </a:ext>
            </a:extLst>
          </p:cNvPr>
          <p:cNvSpPr/>
          <p:nvPr/>
        </p:nvSpPr>
        <p:spPr>
          <a:xfrm>
            <a:off x="3634091" y="3429000"/>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name, country, bowling_style</a:t>
            </a:r>
          </a:p>
          <a:p>
            <a:pPr algn="ctr"/>
            <a:r>
              <a:rPr lang="en-US" dirty="0">
                <a:latin typeface="Times New Roman" panose="02020603050405020304" pitchFamily="18" charset="0"/>
                <a:cs typeface="Times New Roman" panose="02020603050405020304" pitchFamily="18" charset="0"/>
              </a:rPr>
              <a:t>FROM Players</a:t>
            </a:r>
          </a:p>
          <a:p>
            <a:pPr algn="ctr"/>
            <a:r>
              <a:rPr lang="en-US" dirty="0">
                <a:latin typeface="Times New Roman" panose="02020603050405020304" pitchFamily="18" charset="0"/>
                <a:cs typeface="Times New Roman" panose="02020603050405020304" pitchFamily="18" charset="0"/>
              </a:rPr>
              <a:t>WHERE role = 'Bowler';</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3CACE75-92AD-CDAD-6A2C-439623CFC6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1276" y="1905000"/>
            <a:ext cx="3934023" cy="3409950"/>
          </a:xfrm>
          <a:prstGeom prst="rect">
            <a:avLst/>
          </a:prstGeom>
        </p:spPr>
      </p:pic>
      <p:sp>
        <p:nvSpPr>
          <p:cNvPr id="9" name="TextBox 8">
            <a:extLst>
              <a:ext uri="{FF2B5EF4-FFF2-40B4-BE49-F238E27FC236}">
                <a16:creationId xmlns:a16="http://schemas.microsoft.com/office/drawing/2014/main" id="{1BBB447E-C454-8C69-D2BB-0B480F3AB1C2}"/>
              </a:ext>
            </a:extLst>
          </p:cNvPr>
          <p:cNvSpPr txBox="1"/>
          <p:nvPr/>
        </p:nvSpPr>
        <p:spPr>
          <a:xfrm>
            <a:off x="7734300" y="1466850"/>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E32A085-BC78-A64F-88D4-DAADA1E44C53}"/>
              </a:ext>
            </a:extLst>
          </p:cNvPr>
          <p:cNvSpPr txBox="1"/>
          <p:nvPr/>
        </p:nvSpPr>
        <p:spPr>
          <a:xfrm>
            <a:off x="1247775" y="5410884"/>
            <a:ext cx="6915150"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Displays all players whose role is Bowler along with their country and bowling style</a:t>
            </a:r>
            <a:r>
              <a:rPr lang="en-US" dirty="0"/>
              <a:t>.</a:t>
            </a:r>
            <a:endParaRPr lang="en-IN" dirty="0"/>
          </a:p>
        </p:txBody>
      </p:sp>
    </p:spTree>
    <p:extLst>
      <p:ext uri="{BB962C8B-B14F-4D97-AF65-F5344CB8AC3E}">
        <p14:creationId xmlns:p14="http://schemas.microsoft.com/office/powerpoint/2010/main" val="4287576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F7B2A153-629F-EDB6-3C70-252BE97BC878}"/>
              </a:ext>
            </a:extLst>
          </p:cNvPr>
          <p:cNvSpPr/>
          <p:nvPr/>
        </p:nvSpPr>
        <p:spPr>
          <a:xfrm>
            <a:off x="1009650" y="1466850"/>
            <a:ext cx="3695700" cy="1543050"/>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2.Show all matches played in India</a:t>
            </a:r>
            <a:r>
              <a:rPr lang="en-US" dirty="0"/>
              <a:t>.</a:t>
            </a:r>
            <a:endParaRPr lang="en-IN"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26C1841-69BA-7A8F-776A-B3497F38311D}"/>
              </a:ext>
            </a:extLst>
          </p:cNvPr>
          <p:cNvSpPr/>
          <p:nvPr/>
        </p:nvSpPr>
        <p:spPr>
          <a:xfrm>
            <a:off x="3634091" y="3429000"/>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match_id, date, venueFROM MatchesWHERE venue LIKE '%India%';</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A441A51-5648-FE66-1E22-EA52083576B9}"/>
              </a:ext>
            </a:extLst>
          </p:cNvPr>
          <p:cNvPicPr>
            <a:picLocks noChangeAspect="1"/>
          </p:cNvPicPr>
          <p:nvPr/>
        </p:nvPicPr>
        <p:blipFill>
          <a:blip r:embed="rId2"/>
          <a:stretch>
            <a:fillRect/>
          </a:stretch>
        </p:blipFill>
        <p:spPr>
          <a:xfrm>
            <a:off x="8058150" y="1981201"/>
            <a:ext cx="3829050" cy="2667000"/>
          </a:xfrm>
          <a:prstGeom prst="rect">
            <a:avLst/>
          </a:prstGeom>
        </p:spPr>
      </p:pic>
      <p:sp>
        <p:nvSpPr>
          <p:cNvPr id="8" name="TextBox 7">
            <a:extLst>
              <a:ext uri="{FF2B5EF4-FFF2-40B4-BE49-F238E27FC236}">
                <a16:creationId xmlns:a16="http://schemas.microsoft.com/office/drawing/2014/main" id="{DA3A4C89-E708-8FCC-E661-B202DE59F559}"/>
              </a:ext>
            </a:extLst>
          </p:cNvPr>
          <p:cNvSpPr txBox="1"/>
          <p:nvPr/>
        </p:nvSpPr>
        <p:spPr>
          <a:xfrm>
            <a:off x="7734300" y="1466850"/>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10" name="TextBox 9">
            <a:extLst>
              <a:ext uri="{FF2B5EF4-FFF2-40B4-BE49-F238E27FC236}">
                <a16:creationId xmlns:a16="http://schemas.microsoft.com/office/drawing/2014/main" id="{E963E34B-22A4-3817-DCD1-8D26B7F575D8}"/>
              </a:ext>
            </a:extLst>
          </p:cNvPr>
          <p:cNvSpPr txBox="1"/>
          <p:nvPr/>
        </p:nvSpPr>
        <p:spPr>
          <a:xfrm>
            <a:off x="1628775" y="5581650"/>
            <a:ext cx="691515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Shows match_id, date, and venue for matches played in India</a:t>
            </a:r>
            <a:r>
              <a:rPr lang="en-US" dirty="0"/>
              <a:t>.</a:t>
            </a:r>
            <a:endParaRPr lang="en-IN" dirty="0"/>
          </a:p>
        </p:txBody>
      </p:sp>
    </p:spTree>
    <p:extLst>
      <p:ext uri="{BB962C8B-B14F-4D97-AF65-F5344CB8AC3E}">
        <p14:creationId xmlns:p14="http://schemas.microsoft.com/office/powerpoint/2010/main" val="3706084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B5382EC4-E4C0-3052-D0CD-4C204FF9D1F9}"/>
              </a:ext>
            </a:extLst>
          </p:cNvPr>
          <p:cNvSpPr/>
          <p:nvPr/>
        </p:nvSpPr>
        <p:spPr>
          <a:xfrm>
            <a:off x="1009650" y="1466850"/>
            <a:ext cx="3695700" cy="1543050"/>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3.Find all players from Australia who are all-rounders.</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48F8AF3C-1A5E-B726-842E-BA294D411309}"/>
              </a:ext>
            </a:extLst>
          </p:cNvPr>
          <p:cNvSpPr/>
          <p:nvPr/>
        </p:nvSpPr>
        <p:spPr>
          <a:xfrm>
            <a:off x="3634091" y="3429000"/>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name</a:t>
            </a:r>
          </a:p>
          <a:p>
            <a:pPr algn="ctr"/>
            <a:r>
              <a:rPr lang="en-US" dirty="0">
                <a:latin typeface="Times New Roman" panose="02020603050405020304" pitchFamily="18" charset="0"/>
                <a:cs typeface="Times New Roman" panose="02020603050405020304" pitchFamily="18" charset="0"/>
              </a:rPr>
              <a:t>FROM Players</a:t>
            </a:r>
          </a:p>
          <a:p>
            <a:pPr algn="ctr"/>
            <a:r>
              <a:rPr lang="en-US" dirty="0">
                <a:latin typeface="Times New Roman" panose="02020603050405020304" pitchFamily="18" charset="0"/>
                <a:cs typeface="Times New Roman" panose="02020603050405020304" pitchFamily="18" charset="0"/>
              </a:rPr>
              <a:t>WHERE country = 'Australia' AND role = 'All-rounder';</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673FC78-5B5A-446F-3A56-C905FE386090}"/>
              </a:ext>
            </a:extLst>
          </p:cNvPr>
          <p:cNvPicPr>
            <a:picLocks noChangeAspect="1"/>
          </p:cNvPicPr>
          <p:nvPr/>
        </p:nvPicPr>
        <p:blipFill>
          <a:blip r:embed="rId2"/>
          <a:stretch>
            <a:fillRect/>
          </a:stretch>
        </p:blipFill>
        <p:spPr>
          <a:xfrm>
            <a:off x="8615288" y="2762219"/>
            <a:ext cx="3217943" cy="1333561"/>
          </a:xfrm>
          <a:prstGeom prst="rect">
            <a:avLst/>
          </a:prstGeom>
        </p:spPr>
      </p:pic>
      <p:sp>
        <p:nvSpPr>
          <p:cNvPr id="7" name="TextBox 6">
            <a:extLst>
              <a:ext uri="{FF2B5EF4-FFF2-40B4-BE49-F238E27FC236}">
                <a16:creationId xmlns:a16="http://schemas.microsoft.com/office/drawing/2014/main" id="{785444AF-D6EC-B190-04EB-EB9864CB5DA9}"/>
              </a:ext>
            </a:extLst>
          </p:cNvPr>
          <p:cNvSpPr txBox="1"/>
          <p:nvPr/>
        </p:nvSpPr>
        <p:spPr>
          <a:xfrm>
            <a:off x="8134350" y="2238375"/>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6A5AF03D-E1C4-A177-E424-A19FD72F7789}"/>
              </a:ext>
            </a:extLst>
          </p:cNvPr>
          <p:cNvSpPr txBox="1"/>
          <p:nvPr/>
        </p:nvSpPr>
        <p:spPr>
          <a:xfrm>
            <a:off x="1924354" y="5530334"/>
            <a:ext cx="711517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Lists names of Australian players whose role is All-rounder.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5074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loud 5">
            <a:extLst>
              <a:ext uri="{FF2B5EF4-FFF2-40B4-BE49-F238E27FC236}">
                <a16:creationId xmlns:a16="http://schemas.microsoft.com/office/drawing/2014/main" id="{706CB73A-39D0-3DF1-EF14-0669EC32CE1A}"/>
              </a:ext>
            </a:extLst>
          </p:cNvPr>
          <p:cNvSpPr/>
          <p:nvPr/>
        </p:nvSpPr>
        <p:spPr>
          <a:xfrm>
            <a:off x="1009650" y="1466850"/>
            <a:ext cx="3695700" cy="1543050"/>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4. Display matches where Team India was the winner.</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57A1C22-B3D8-75C2-A2BD-8B92C7C6BB82}"/>
              </a:ext>
            </a:extLst>
          </p:cNvPr>
          <p:cNvPicPr>
            <a:picLocks noChangeAspect="1"/>
          </p:cNvPicPr>
          <p:nvPr/>
        </p:nvPicPr>
        <p:blipFill>
          <a:blip r:embed="rId2"/>
          <a:stretch>
            <a:fillRect/>
          </a:stretch>
        </p:blipFill>
        <p:spPr>
          <a:xfrm>
            <a:off x="8262780" y="2533559"/>
            <a:ext cx="3522820" cy="2597241"/>
          </a:xfrm>
          <a:prstGeom prst="rect">
            <a:avLst/>
          </a:prstGeom>
        </p:spPr>
      </p:pic>
      <p:sp>
        <p:nvSpPr>
          <p:cNvPr id="12" name="Rectangle: Rounded Corners 11">
            <a:extLst>
              <a:ext uri="{FF2B5EF4-FFF2-40B4-BE49-F238E27FC236}">
                <a16:creationId xmlns:a16="http://schemas.microsoft.com/office/drawing/2014/main" id="{D52A34B5-998F-7C0D-7F68-E59CB0631964}"/>
              </a:ext>
            </a:extLst>
          </p:cNvPr>
          <p:cNvSpPr/>
          <p:nvPr/>
        </p:nvSpPr>
        <p:spPr>
          <a:xfrm>
            <a:off x="3634091" y="3429000"/>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match_id, venue, format</a:t>
            </a:r>
          </a:p>
          <a:p>
            <a:pPr algn="ctr"/>
            <a:r>
              <a:rPr lang="en-US" dirty="0">
                <a:latin typeface="Times New Roman" panose="02020603050405020304" pitchFamily="18" charset="0"/>
                <a:cs typeface="Times New Roman" panose="02020603050405020304" pitchFamily="18" charset="0"/>
              </a:rPr>
              <a:t>FROM Matches</a:t>
            </a:r>
          </a:p>
          <a:p>
            <a:pPr algn="ctr"/>
            <a:r>
              <a:rPr lang="en-US" dirty="0">
                <a:latin typeface="Times New Roman" panose="02020603050405020304" pitchFamily="18" charset="0"/>
                <a:cs typeface="Times New Roman" panose="02020603050405020304" pitchFamily="18" charset="0"/>
              </a:rPr>
              <a:t>WHERE winner_id = 1;</a:t>
            </a: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9274BC2-4D82-C8A7-D318-B51091DDCF63}"/>
              </a:ext>
            </a:extLst>
          </p:cNvPr>
          <p:cNvSpPr txBox="1"/>
          <p:nvPr/>
        </p:nvSpPr>
        <p:spPr>
          <a:xfrm>
            <a:off x="7890934" y="2053709"/>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16" name="TextBox 15">
            <a:extLst>
              <a:ext uri="{FF2B5EF4-FFF2-40B4-BE49-F238E27FC236}">
                <a16:creationId xmlns:a16="http://schemas.microsoft.com/office/drawing/2014/main" id="{2ABFA59A-E840-F515-B716-96F85838650D}"/>
              </a:ext>
            </a:extLst>
          </p:cNvPr>
          <p:cNvSpPr txBox="1"/>
          <p:nvPr/>
        </p:nvSpPr>
        <p:spPr>
          <a:xfrm>
            <a:off x="1600200" y="5391150"/>
            <a:ext cx="6993466"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Shows match details (id, venue, format) where India was the winning team.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8474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0BC14630-0B6B-BF51-B7C5-C2F7004759B7}"/>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5. Get all T20 matches played in October 2023.</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EA51DF3A-7381-0833-E839-DA6D37E69786}"/>
              </a:ext>
            </a:extLst>
          </p:cNvPr>
          <p:cNvSpPr/>
          <p:nvPr/>
        </p:nvSpPr>
        <p:spPr>
          <a:xfrm>
            <a:off x="3634091" y="3429000"/>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match_id, date, venue</a:t>
            </a:r>
          </a:p>
          <a:p>
            <a:pPr algn="ctr"/>
            <a:r>
              <a:rPr lang="en-US" dirty="0">
                <a:latin typeface="Times New Roman" panose="02020603050405020304" pitchFamily="18" charset="0"/>
                <a:cs typeface="Times New Roman" panose="02020603050405020304" pitchFamily="18" charset="0"/>
              </a:rPr>
              <a:t>FROM Matches</a:t>
            </a:r>
          </a:p>
          <a:p>
            <a:pPr algn="ctr"/>
            <a:r>
              <a:rPr lang="en-US" dirty="0">
                <a:latin typeface="Times New Roman" panose="02020603050405020304" pitchFamily="18" charset="0"/>
                <a:cs typeface="Times New Roman" panose="02020603050405020304" pitchFamily="18" charset="0"/>
              </a:rPr>
              <a:t>WHERE format = 'T20' AND date BETWEEN '2023-10-01' AND '2023-10-31';</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007840B-E224-749D-D4F5-D9994F784F99}"/>
              </a:ext>
            </a:extLst>
          </p:cNvPr>
          <p:cNvPicPr>
            <a:picLocks noChangeAspect="1"/>
          </p:cNvPicPr>
          <p:nvPr/>
        </p:nvPicPr>
        <p:blipFill>
          <a:blip r:embed="rId2"/>
          <a:stretch>
            <a:fillRect/>
          </a:stretch>
        </p:blipFill>
        <p:spPr>
          <a:xfrm>
            <a:off x="8028851" y="2099733"/>
            <a:ext cx="3695699" cy="3302000"/>
          </a:xfrm>
          <a:prstGeom prst="rect">
            <a:avLst/>
          </a:prstGeom>
        </p:spPr>
      </p:pic>
      <p:sp>
        <p:nvSpPr>
          <p:cNvPr id="7" name="TextBox 6">
            <a:extLst>
              <a:ext uri="{FF2B5EF4-FFF2-40B4-BE49-F238E27FC236}">
                <a16:creationId xmlns:a16="http://schemas.microsoft.com/office/drawing/2014/main" id="{B1F0E1B3-233F-A391-12AF-3D8D1B8CC807}"/>
              </a:ext>
            </a:extLst>
          </p:cNvPr>
          <p:cNvSpPr txBox="1"/>
          <p:nvPr/>
        </p:nvSpPr>
        <p:spPr>
          <a:xfrm>
            <a:off x="7772400" y="1730401"/>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71B97433-7B4D-1D87-AE30-7A3273C1DDD3}"/>
              </a:ext>
            </a:extLst>
          </p:cNvPr>
          <p:cNvSpPr txBox="1"/>
          <p:nvPr/>
        </p:nvSpPr>
        <p:spPr>
          <a:xfrm>
            <a:off x="1358901" y="5699667"/>
            <a:ext cx="69342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Displays all T20 matches played in October 2023.</a:t>
            </a:r>
          </a:p>
        </p:txBody>
      </p:sp>
    </p:spTree>
    <p:extLst>
      <p:ext uri="{BB962C8B-B14F-4D97-AF65-F5344CB8AC3E}">
        <p14:creationId xmlns:p14="http://schemas.microsoft.com/office/powerpoint/2010/main" val="248230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41103313-F816-B8ED-AAE6-AFA5A738F8F5}"/>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6. Update player roles promote Rohit Sharma to captain if needed.</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9D16A2C0-038E-D980-780C-FE035C67E684}"/>
              </a:ext>
            </a:extLst>
          </p:cNvPr>
          <p:cNvSpPr/>
          <p:nvPr/>
        </p:nvSpPr>
        <p:spPr>
          <a:xfrm>
            <a:off x="2844802" y="3741208"/>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UPDATE Players</a:t>
            </a:r>
          </a:p>
          <a:p>
            <a:pPr algn="ctr"/>
            <a:r>
              <a:rPr lang="en-US" dirty="0">
                <a:latin typeface="Times New Roman" panose="02020603050405020304" pitchFamily="18" charset="0"/>
                <a:cs typeface="Times New Roman" panose="02020603050405020304" pitchFamily="18" charset="0"/>
              </a:rPr>
              <a:t>SET role = 'Captain'</a:t>
            </a:r>
          </a:p>
          <a:p>
            <a:pPr algn="ctr"/>
            <a:r>
              <a:rPr lang="en-US" dirty="0">
                <a:latin typeface="Times New Roman" panose="02020603050405020304" pitchFamily="18" charset="0"/>
                <a:cs typeface="Times New Roman" panose="02020603050405020304" pitchFamily="18" charset="0"/>
              </a:rPr>
              <a:t>WHERE name = 'Rohit Sharma';</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3923690-DC50-1783-6CF9-9F3AB0AA758E}"/>
              </a:ext>
            </a:extLst>
          </p:cNvPr>
          <p:cNvPicPr>
            <a:picLocks noChangeAspect="1"/>
          </p:cNvPicPr>
          <p:nvPr/>
        </p:nvPicPr>
        <p:blipFill>
          <a:blip r:embed="rId2"/>
          <a:stretch>
            <a:fillRect/>
          </a:stretch>
        </p:blipFill>
        <p:spPr>
          <a:xfrm>
            <a:off x="6096000" y="742675"/>
            <a:ext cx="5909733" cy="2914925"/>
          </a:xfrm>
          <a:prstGeom prst="rect">
            <a:avLst/>
          </a:prstGeom>
        </p:spPr>
      </p:pic>
      <p:sp>
        <p:nvSpPr>
          <p:cNvPr id="7" name="TextBox 6">
            <a:extLst>
              <a:ext uri="{FF2B5EF4-FFF2-40B4-BE49-F238E27FC236}">
                <a16:creationId xmlns:a16="http://schemas.microsoft.com/office/drawing/2014/main" id="{314908BD-16E7-1450-B1D6-2E19A24C5AE1}"/>
              </a:ext>
            </a:extLst>
          </p:cNvPr>
          <p:cNvSpPr txBox="1"/>
          <p:nvPr/>
        </p:nvSpPr>
        <p:spPr>
          <a:xfrm>
            <a:off x="6002866" y="289735"/>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DAEA8337-898D-D692-DFC3-C6F86C38BC1B}"/>
              </a:ext>
            </a:extLst>
          </p:cNvPr>
          <p:cNvSpPr txBox="1"/>
          <p:nvPr/>
        </p:nvSpPr>
        <p:spPr>
          <a:xfrm>
            <a:off x="1778001" y="5745993"/>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Changes Rohit Sharma’s role to Captain</a:t>
            </a:r>
            <a:r>
              <a:rPr lang="en-US" dirty="0"/>
              <a:t>.</a:t>
            </a:r>
            <a:endParaRPr lang="en-IN" dirty="0"/>
          </a:p>
        </p:txBody>
      </p:sp>
    </p:spTree>
    <p:extLst>
      <p:ext uri="{BB962C8B-B14F-4D97-AF65-F5344CB8AC3E}">
        <p14:creationId xmlns:p14="http://schemas.microsoft.com/office/powerpoint/2010/main" val="4183225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D5A39586-46DA-3A96-CE96-2CF2FBDBE64D}"/>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7.Delete a record of a cancelled match.</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960F73BF-E46E-AE20-C38F-B4224061C983}"/>
              </a:ext>
            </a:extLst>
          </p:cNvPr>
          <p:cNvSpPr/>
          <p:nvPr/>
        </p:nvSpPr>
        <p:spPr>
          <a:xfrm>
            <a:off x="2127025" y="3649133"/>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DELETE FROM Matches</a:t>
            </a:r>
          </a:p>
          <a:p>
            <a:pPr algn="ctr"/>
            <a:r>
              <a:rPr lang="en-US" dirty="0">
                <a:latin typeface="Times New Roman" panose="02020603050405020304" pitchFamily="18" charset="0"/>
                <a:cs typeface="Times New Roman" panose="02020603050405020304" pitchFamily="18" charset="0"/>
              </a:rPr>
              <a:t>WHERE match_id = 330;</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FF00004-4A13-C3E7-0905-8D97B8C1B380}"/>
              </a:ext>
            </a:extLst>
          </p:cNvPr>
          <p:cNvPicPr>
            <a:picLocks noChangeAspect="1"/>
          </p:cNvPicPr>
          <p:nvPr/>
        </p:nvPicPr>
        <p:blipFill>
          <a:blip r:embed="rId2"/>
          <a:stretch>
            <a:fillRect/>
          </a:stretch>
        </p:blipFill>
        <p:spPr>
          <a:xfrm>
            <a:off x="6369278" y="1232291"/>
            <a:ext cx="5687256" cy="3221176"/>
          </a:xfrm>
          <a:prstGeom prst="rect">
            <a:avLst/>
          </a:prstGeom>
        </p:spPr>
      </p:pic>
      <p:sp>
        <p:nvSpPr>
          <p:cNvPr id="7" name="TextBox 6">
            <a:extLst>
              <a:ext uri="{FF2B5EF4-FFF2-40B4-BE49-F238E27FC236}">
                <a16:creationId xmlns:a16="http://schemas.microsoft.com/office/drawing/2014/main" id="{445AA7B1-22D6-6D2B-714A-65CF4F0E7C6A}"/>
              </a:ext>
            </a:extLst>
          </p:cNvPr>
          <p:cNvSpPr txBox="1"/>
          <p:nvPr/>
        </p:nvSpPr>
        <p:spPr>
          <a:xfrm>
            <a:off x="6096000" y="862959"/>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916E561D-9D7B-9AA1-B03C-EEBB4E28664D}"/>
              </a:ext>
            </a:extLst>
          </p:cNvPr>
          <p:cNvSpPr txBox="1"/>
          <p:nvPr/>
        </p:nvSpPr>
        <p:spPr>
          <a:xfrm>
            <a:off x="1540933" y="5810375"/>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Deletes the cancelled match with id 330.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7237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5AF7D32E-8FDB-6483-E061-E32B70BD603C}"/>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8. Insert a new match into the schedule.</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A8E7E7C3-D2EE-97A0-8048-396E7D324467}"/>
              </a:ext>
            </a:extLst>
          </p:cNvPr>
          <p:cNvSpPr/>
          <p:nvPr/>
        </p:nvSpPr>
        <p:spPr>
          <a:xfrm>
            <a:off x="2025424" y="3283225"/>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INSERT INTO Matches VALUES</a:t>
            </a:r>
          </a:p>
          <a:p>
            <a:pPr algn="ctr"/>
            <a:r>
              <a:rPr lang="en-US" dirty="0">
                <a:latin typeface="Times New Roman" panose="02020603050405020304" pitchFamily="18" charset="0"/>
                <a:cs typeface="Times New Roman" panose="02020603050405020304" pitchFamily="18" charset="0"/>
              </a:rPr>
              <a:t>(331, '2023-12-05', 'Delhi, India', 1, 6, 1, 'ODI');</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7320CE7-9C22-EC3C-8E75-1F904F203D68}"/>
              </a:ext>
            </a:extLst>
          </p:cNvPr>
          <p:cNvSpPr txBox="1"/>
          <p:nvPr/>
        </p:nvSpPr>
        <p:spPr>
          <a:xfrm>
            <a:off x="5952261" y="1120801"/>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pic>
        <p:nvPicPr>
          <p:cNvPr id="7" name="Picture 6">
            <a:extLst>
              <a:ext uri="{FF2B5EF4-FFF2-40B4-BE49-F238E27FC236}">
                <a16:creationId xmlns:a16="http://schemas.microsoft.com/office/drawing/2014/main" id="{1889AD18-4E1E-0695-9FF3-C18A4A8D1B72}"/>
              </a:ext>
            </a:extLst>
          </p:cNvPr>
          <p:cNvPicPr>
            <a:picLocks noChangeAspect="1"/>
          </p:cNvPicPr>
          <p:nvPr/>
        </p:nvPicPr>
        <p:blipFill>
          <a:blip r:embed="rId2"/>
          <a:stretch>
            <a:fillRect/>
          </a:stretch>
        </p:blipFill>
        <p:spPr>
          <a:xfrm>
            <a:off x="5952261" y="1676401"/>
            <a:ext cx="6096000" cy="3149874"/>
          </a:xfrm>
          <a:prstGeom prst="rect">
            <a:avLst/>
          </a:prstGeom>
        </p:spPr>
      </p:pic>
      <p:sp>
        <p:nvSpPr>
          <p:cNvPr id="9" name="TextBox 8">
            <a:extLst>
              <a:ext uri="{FF2B5EF4-FFF2-40B4-BE49-F238E27FC236}">
                <a16:creationId xmlns:a16="http://schemas.microsoft.com/office/drawing/2014/main" id="{7B6934D3-341D-31A7-A3F1-86FBDD4AD96C}"/>
              </a:ext>
            </a:extLst>
          </p:cNvPr>
          <p:cNvSpPr txBox="1"/>
          <p:nvPr/>
        </p:nvSpPr>
        <p:spPr>
          <a:xfrm>
            <a:off x="1371600" y="5367867"/>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Adds a new match record (India vs NZ at Delhi).</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153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E5DCF6BD-27F9-8D4E-6564-8EA66CF0EA64}"/>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9. Find venues that hosted more than 1 matches.</a:t>
            </a:r>
            <a:endParaRPr lang="en-IN" dirty="0">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9EDEC99B-AF61-4430-5846-743D9096100C}"/>
              </a:ext>
            </a:extLst>
          </p:cNvPr>
          <p:cNvSpPr/>
          <p:nvPr/>
        </p:nvSpPr>
        <p:spPr>
          <a:xfrm>
            <a:off x="3634091" y="3429000"/>
            <a:ext cx="3695700" cy="1543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venue, COUNT(*) AS matches_count</a:t>
            </a:r>
          </a:p>
          <a:p>
            <a:pPr algn="ctr"/>
            <a:r>
              <a:rPr lang="en-US" dirty="0">
                <a:latin typeface="Times New Roman" panose="02020603050405020304" pitchFamily="18" charset="0"/>
                <a:cs typeface="Times New Roman" panose="02020603050405020304" pitchFamily="18" charset="0"/>
              </a:rPr>
              <a:t>FROM Matches</a:t>
            </a:r>
          </a:p>
          <a:p>
            <a:pPr algn="ctr"/>
            <a:r>
              <a:rPr lang="en-US" dirty="0">
                <a:latin typeface="Times New Roman" panose="02020603050405020304" pitchFamily="18" charset="0"/>
                <a:cs typeface="Times New Roman" panose="02020603050405020304" pitchFamily="18" charset="0"/>
              </a:rPr>
              <a:t>GROUP BY venue</a:t>
            </a:r>
          </a:p>
          <a:p>
            <a:pPr algn="ctr"/>
            <a:r>
              <a:rPr lang="en-US" dirty="0">
                <a:latin typeface="Times New Roman" panose="02020603050405020304" pitchFamily="18" charset="0"/>
                <a:cs typeface="Times New Roman" panose="02020603050405020304" pitchFamily="18" charset="0"/>
              </a:rPr>
              <a:t>HAVING COUNT(*) &gt; 1;</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017EB95-CDF5-20CD-6664-0206E5A60D4D}"/>
              </a:ext>
            </a:extLst>
          </p:cNvPr>
          <p:cNvPicPr>
            <a:picLocks noChangeAspect="1"/>
          </p:cNvPicPr>
          <p:nvPr/>
        </p:nvPicPr>
        <p:blipFill>
          <a:blip r:embed="rId2"/>
          <a:stretch>
            <a:fillRect/>
          </a:stretch>
        </p:blipFill>
        <p:spPr>
          <a:xfrm>
            <a:off x="8590360" y="2755873"/>
            <a:ext cx="2941240" cy="1037194"/>
          </a:xfrm>
          <a:prstGeom prst="rect">
            <a:avLst/>
          </a:prstGeom>
        </p:spPr>
      </p:pic>
      <p:sp>
        <p:nvSpPr>
          <p:cNvPr id="12" name="TextBox 11">
            <a:extLst>
              <a:ext uri="{FF2B5EF4-FFF2-40B4-BE49-F238E27FC236}">
                <a16:creationId xmlns:a16="http://schemas.microsoft.com/office/drawing/2014/main" id="{D18FDBA3-2B44-4A18-DA6F-F95C9E9E32B5}"/>
              </a:ext>
            </a:extLst>
          </p:cNvPr>
          <p:cNvSpPr txBox="1"/>
          <p:nvPr/>
        </p:nvSpPr>
        <p:spPr>
          <a:xfrm>
            <a:off x="7890931" y="2218266"/>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14" name="TextBox 13">
            <a:extLst>
              <a:ext uri="{FF2B5EF4-FFF2-40B4-BE49-F238E27FC236}">
                <a16:creationId xmlns:a16="http://schemas.microsoft.com/office/drawing/2014/main" id="{A339A3C9-D46F-AC65-3A02-71203DD2EA80}"/>
              </a:ext>
            </a:extLst>
          </p:cNvPr>
          <p:cNvSpPr txBox="1"/>
          <p:nvPr/>
        </p:nvSpPr>
        <p:spPr>
          <a:xfrm>
            <a:off x="1563025" y="5367867"/>
            <a:ext cx="699346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Finds venues that hosted more than 2 matches</a:t>
            </a:r>
            <a:r>
              <a:rPr lang="en-US" dirty="0"/>
              <a:t>.</a:t>
            </a:r>
            <a:endParaRPr lang="en-IN" dirty="0"/>
          </a:p>
        </p:txBody>
      </p:sp>
    </p:spTree>
    <p:extLst>
      <p:ext uri="{BB962C8B-B14F-4D97-AF65-F5344CB8AC3E}">
        <p14:creationId xmlns:p14="http://schemas.microsoft.com/office/powerpoint/2010/main" val="811821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6B65E3AC-075C-0F85-C942-6481AF7BB86A}"/>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10. Find the total runs scored by each player.</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6F89D579-DDA5-C385-1816-E2159C1D8BA9}"/>
              </a:ext>
            </a:extLst>
          </p:cNvPr>
          <p:cNvSpPr/>
          <p:nvPr/>
        </p:nvSpPr>
        <p:spPr>
          <a:xfrm>
            <a:off x="3318933" y="3191932"/>
            <a:ext cx="4027791" cy="23452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SUM(</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AS </a:t>
            </a:r>
            <a:r>
              <a:rPr lang="en-US" dirty="0" err="1">
                <a:latin typeface="Times New Roman" panose="02020603050405020304" pitchFamily="18" charset="0"/>
                <a:cs typeface="Times New Roman" panose="02020603050405020304" pitchFamily="18" charset="0"/>
              </a:rPr>
              <a:t>total_runs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a:t>
            </a:r>
            <a:r>
              <a:rPr lang="en-US" dirty="0" err="1">
                <a:latin typeface="Times New Roman" panose="02020603050405020304" pitchFamily="18" charset="0"/>
                <a:cs typeface="Times New Roman" panose="02020603050405020304" pitchFamily="18" charset="0"/>
              </a:rPr>
              <a:t>Batting_Stats</a:t>
            </a:r>
            <a:r>
              <a:rPr lang="en-US" dirty="0">
                <a:latin typeface="Times New Roman" panose="02020603050405020304" pitchFamily="18" charset="0"/>
                <a:cs typeface="Times New Roman" panose="02020603050405020304" pitchFamily="18" charset="0"/>
              </a:rPr>
              <a:t> b</a:t>
            </a:r>
          </a:p>
          <a:p>
            <a:pPr algn="ctr"/>
            <a:r>
              <a:rPr lang="en-US" dirty="0">
                <a:latin typeface="Times New Roman" panose="02020603050405020304" pitchFamily="18" charset="0"/>
                <a:cs typeface="Times New Roman" panose="02020603050405020304" pitchFamily="18" charset="0"/>
              </a:rPr>
              <a:t>JOIN Players p ON </a:t>
            </a:r>
          </a:p>
          <a:p>
            <a:pPr algn="ctr"/>
            <a:r>
              <a:rPr lang="en-US" dirty="0">
                <a:latin typeface="Times New Roman" panose="02020603050405020304" pitchFamily="18" charset="0"/>
                <a:cs typeface="Times New Roman" panose="02020603050405020304" pitchFamily="18" charset="0"/>
              </a:rPr>
              <a:t>b.player_id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p.name</a:t>
            </a:r>
          </a:p>
          <a:p>
            <a:pPr algn="ctr"/>
            <a:r>
              <a:rPr lang="en-US" dirty="0">
                <a:latin typeface="Times New Roman" panose="02020603050405020304" pitchFamily="18" charset="0"/>
                <a:cs typeface="Times New Roman" panose="02020603050405020304" pitchFamily="18" charset="0"/>
              </a:rPr>
              <a:t>ORDER BY </a:t>
            </a:r>
            <a:r>
              <a:rPr lang="en-US" dirty="0" err="1">
                <a:latin typeface="Times New Roman" panose="02020603050405020304" pitchFamily="18" charset="0"/>
                <a:cs typeface="Times New Roman" panose="02020603050405020304" pitchFamily="18" charset="0"/>
              </a:rPr>
              <a:t>total_runs</a:t>
            </a:r>
            <a:r>
              <a:rPr lang="en-US" dirty="0">
                <a:latin typeface="Times New Roman" panose="02020603050405020304" pitchFamily="18" charset="0"/>
                <a:cs typeface="Times New Roman" panose="02020603050405020304" pitchFamily="18" charset="0"/>
              </a:rPr>
              <a:t> DESC;</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A253B52-8FF7-83E7-A2F2-F589F1A769C4}"/>
              </a:ext>
            </a:extLst>
          </p:cNvPr>
          <p:cNvSpPr txBox="1"/>
          <p:nvPr/>
        </p:nvSpPr>
        <p:spPr>
          <a:xfrm>
            <a:off x="8246531" y="1440933"/>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pic>
        <p:nvPicPr>
          <p:cNvPr id="7" name="Picture 6">
            <a:extLst>
              <a:ext uri="{FF2B5EF4-FFF2-40B4-BE49-F238E27FC236}">
                <a16:creationId xmlns:a16="http://schemas.microsoft.com/office/drawing/2014/main" id="{A9585066-6231-BECD-2B32-A539FE38C61D}"/>
              </a:ext>
            </a:extLst>
          </p:cNvPr>
          <p:cNvPicPr>
            <a:picLocks noChangeAspect="1"/>
          </p:cNvPicPr>
          <p:nvPr/>
        </p:nvPicPr>
        <p:blipFill>
          <a:blip r:embed="rId2"/>
          <a:stretch>
            <a:fillRect/>
          </a:stretch>
        </p:blipFill>
        <p:spPr>
          <a:xfrm>
            <a:off x="8542750" y="1879601"/>
            <a:ext cx="2988850" cy="3352800"/>
          </a:xfrm>
          <a:prstGeom prst="rect">
            <a:avLst/>
          </a:prstGeom>
        </p:spPr>
      </p:pic>
      <p:sp>
        <p:nvSpPr>
          <p:cNvPr id="9" name="TextBox 8">
            <a:extLst>
              <a:ext uri="{FF2B5EF4-FFF2-40B4-BE49-F238E27FC236}">
                <a16:creationId xmlns:a16="http://schemas.microsoft.com/office/drawing/2014/main" id="{1358E921-2CDC-8C41-9DF1-918A8F7FA583}"/>
              </a:ext>
            </a:extLst>
          </p:cNvPr>
          <p:cNvSpPr txBox="1"/>
          <p:nvPr/>
        </p:nvSpPr>
        <p:spPr>
          <a:xfrm>
            <a:off x="1413701" y="5731932"/>
            <a:ext cx="717126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Calculates total runs scored by each player across all matches.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4169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631F95CC-F49B-8CE0-A118-8EAE22CC7D9C}"/>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11.Get the highest individual score in the batting stats.</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17AF17F3-E7CE-443B-5698-AE1189B9033D}"/>
              </a:ext>
            </a:extLst>
          </p:cNvPr>
          <p:cNvSpPr/>
          <p:nvPr/>
        </p:nvSpPr>
        <p:spPr>
          <a:xfrm>
            <a:off x="2844801" y="3741207"/>
            <a:ext cx="3945465" cy="196532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a:t>
            </a:r>
            <a:r>
              <a:rPr lang="en-US" dirty="0" err="1">
                <a:latin typeface="Times New Roman" panose="02020603050405020304" pitchFamily="18" charset="0"/>
                <a:cs typeface="Times New Roman" panose="02020603050405020304" pitchFamily="18" charset="0"/>
              </a:rPr>
              <a:t>b.runs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Batting_Stats b</a:t>
            </a:r>
          </a:p>
          <a:p>
            <a:pPr algn="ctr"/>
            <a:r>
              <a:rPr lang="en-US" dirty="0">
                <a:latin typeface="Times New Roman" panose="02020603050405020304" pitchFamily="18" charset="0"/>
                <a:cs typeface="Times New Roman" panose="02020603050405020304" pitchFamily="18" charset="0"/>
              </a:rPr>
              <a:t>JOIN Players p ON </a:t>
            </a:r>
          </a:p>
          <a:p>
            <a:pPr algn="ctr"/>
            <a:r>
              <a:rPr lang="en-US" dirty="0">
                <a:latin typeface="Times New Roman" panose="02020603050405020304" pitchFamily="18" charset="0"/>
                <a:cs typeface="Times New Roman" panose="02020603050405020304" pitchFamily="18" charset="0"/>
              </a:rPr>
              <a:t>b.player_id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ORDER BY </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DESC</a:t>
            </a:r>
          </a:p>
          <a:p>
            <a:pPr algn="ctr"/>
            <a:r>
              <a:rPr lang="en-US" dirty="0">
                <a:latin typeface="Times New Roman" panose="02020603050405020304" pitchFamily="18" charset="0"/>
                <a:cs typeface="Times New Roman" panose="02020603050405020304" pitchFamily="18" charset="0"/>
              </a:rPr>
              <a:t>LIMIT 1;';</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FBC8392-7432-BDB4-6FB6-8FCBD313343D}"/>
              </a:ext>
            </a:extLst>
          </p:cNvPr>
          <p:cNvPicPr>
            <a:picLocks noChangeAspect="1"/>
          </p:cNvPicPr>
          <p:nvPr/>
        </p:nvPicPr>
        <p:blipFill>
          <a:blip r:embed="rId2"/>
          <a:stretch>
            <a:fillRect/>
          </a:stretch>
        </p:blipFill>
        <p:spPr>
          <a:xfrm>
            <a:off x="8833281" y="2565347"/>
            <a:ext cx="2630585" cy="863653"/>
          </a:xfrm>
          <a:prstGeom prst="rect">
            <a:avLst/>
          </a:prstGeom>
        </p:spPr>
      </p:pic>
      <p:sp>
        <p:nvSpPr>
          <p:cNvPr id="7" name="TextBox 6">
            <a:extLst>
              <a:ext uri="{FF2B5EF4-FFF2-40B4-BE49-F238E27FC236}">
                <a16:creationId xmlns:a16="http://schemas.microsoft.com/office/drawing/2014/main" id="{119807BD-85F0-82C8-B9F0-9FF311B23B3B}"/>
              </a:ext>
            </a:extLst>
          </p:cNvPr>
          <p:cNvSpPr txBox="1"/>
          <p:nvPr/>
        </p:nvSpPr>
        <p:spPr>
          <a:xfrm>
            <a:off x="8415866" y="2033600"/>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F25ECC3B-DA8B-17EF-D776-0D5C6BFC44BB}"/>
              </a:ext>
            </a:extLst>
          </p:cNvPr>
          <p:cNvSpPr txBox="1"/>
          <p:nvPr/>
        </p:nvSpPr>
        <p:spPr>
          <a:xfrm>
            <a:off x="2091267" y="5970601"/>
            <a:ext cx="72559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Finds the highest score by a single player in one match.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9464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3CB91B81-1CC9-36E3-E9F1-893633D59851}"/>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12. Find average strike rate of Indian batsmen.</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62F50729-85A5-C625-CBF4-BEA116650A91}"/>
              </a:ext>
            </a:extLst>
          </p:cNvPr>
          <p:cNvSpPr/>
          <p:nvPr/>
        </p:nvSpPr>
        <p:spPr>
          <a:xfrm>
            <a:off x="3634091" y="3429000"/>
            <a:ext cx="3695700" cy="2108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AVG(</a:t>
            </a:r>
            <a:r>
              <a:rPr lang="en-US" dirty="0" err="1">
                <a:latin typeface="Times New Roman" panose="02020603050405020304" pitchFamily="18" charset="0"/>
                <a:cs typeface="Times New Roman" panose="02020603050405020304" pitchFamily="18" charset="0"/>
              </a:rPr>
              <a:t>strike_rate</a:t>
            </a:r>
            <a:r>
              <a:rPr lang="en-US" dirty="0">
                <a:latin typeface="Times New Roman" panose="02020603050405020304" pitchFamily="18" charset="0"/>
                <a:cs typeface="Times New Roman" panose="02020603050405020304" pitchFamily="18" charset="0"/>
              </a:rPr>
              <a:t>) AS </a:t>
            </a:r>
            <a:r>
              <a:rPr lang="en-US" dirty="0" err="1">
                <a:latin typeface="Times New Roman" panose="02020603050405020304" pitchFamily="18" charset="0"/>
                <a:cs typeface="Times New Roman" panose="02020603050405020304" pitchFamily="18" charset="0"/>
              </a:rPr>
              <a:t>avg_sr</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Batting_Stats b</a:t>
            </a:r>
          </a:p>
          <a:p>
            <a:pPr algn="ctr"/>
            <a:r>
              <a:rPr lang="en-US" dirty="0">
                <a:latin typeface="Times New Roman" panose="02020603050405020304" pitchFamily="18" charset="0"/>
                <a:cs typeface="Times New Roman" panose="02020603050405020304" pitchFamily="18" charset="0"/>
              </a:rPr>
              <a:t>JOIN Players p ON </a:t>
            </a:r>
          </a:p>
          <a:p>
            <a:pPr algn="ctr"/>
            <a:r>
              <a:rPr lang="en-US" dirty="0">
                <a:latin typeface="Times New Roman" panose="02020603050405020304" pitchFamily="18" charset="0"/>
                <a:cs typeface="Times New Roman" panose="02020603050405020304" pitchFamily="18" charset="0"/>
              </a:rPr>
              <a:t>b.player_id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p.country</a:t>
            </a:r>
            <a:r>
              <a:rPr lang="en-US" dirty="0">
                <a:latin typeface="Times New Roman" panose="02020603050405020304" pitchFamily="18" charset="0"/>
                <a:cs typeface="Times New Roman" panose="02020603050405020304" pitchFamily="18" charset="0"/>
              </a:rPr>
              <a:t> = 'India';</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46C15D5-AA8C-8189-12FC-4A128D094537}"/>
              </a:ext>
            </a:extLst>
          </p:cNvPr>
          <p:cNvSpPr txBox="1"/>
          <p:nvPr/>
        </p:nvSpPr>
        <p:spPr>
          <a:xfrm>
            <a:off x="8686800" y="2218266"/>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pic>
        <p:nvPicPr>
          <p:cNvPr id="7" name="Picture 6">
            <a:extLst>
              <a:ext uri="{FF2B5EF4-FFF2-40B4-BE49-F238E27FC236}">
                <a16:creationId xmlns:a16="http://schemas.microsoft.com/office/drawing/2014/main" id="{0396E962-F0F7-4DCA-248A-7D5B44EED78E}"/>
              </a:ext>
            </a:extLst>
          </p:cNvPr>
          <p:cNvPicPr>
            <a:picLocks noChangeAspect="1"/>
          </p:cNvPicPr>
          <p:nvPr/>
        </p:nvPicPr>
        <p:blipFill>
          <a:blip r:embed="rId2"/>
          <a:stretch>
            <a:fillRect/>
          </a:stretch>
        </p:blipFill>
        <p:spPr>
          <a:xfrm>
            <a:off x="9144000" y="2770163"/>
            <a:ext cx="2760133" cy="1276904"/>
          </a:xfrm>
          <a:prstGeom prst="rect">
            <a:avLst/>
          </a:prstGeom>
        </p:spPr>
      </p:pic>
      <p:sp>
        <p:nvSpPr>
          <p:cNvPr id="9" name="TextBox 8">
            <a:extLst>
              <a:ext uri="{FF2B5EF4-FFF2-40B4-BE49-F238E27FC236}">
                <a16:creationId xmlns:a16="http://schemas.microsoft.com/office/drawing/2014/main" id="{C0100750-A831-81D9-E50C-F9E80C71294D}"/>
              </a:ext>
            </a:extLst>
          </p:cNvPr>
          <p:cNvSpPr txBox="1"/>
          <p:nvPr/>
        </p:nvSpPr>
        <p:spPr>
          <a:xfrm>
            <a:off x="1295400" y="5835134"/>
            <a:ext cx="73914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Computes the average strike rate of all Indian batsmen</a:t>
            </a:r>
            <a:r>
              <a:rPr lang="en-US" dirty="0"/>
              <a:t>.</a:t>
            </a:r>
            <a:endParaRPr lang="en-IN" dirty="0"/>
          </a:p>
        </p:txBody>
      </p:sp>
    </p:spTree>
    <p:extLst>
      <p:ext uri="{BB962C8B-B14F-4D97-AF65-F5344CB8AC3E}">
        <p14:creationId xmlns:p14="http://schemas.microsoft.com/office/powerpoint/2010/main" val="3313336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442E3936-3B98-E4EF-B047-A60548597584}"/>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13. Show top 5 run scorers overall.</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A30244C1-B873-74FF-7D49-36778A2BFB91}"/>
              </a:ext>
            </a:extLst>
          </p:cNvPr>
          <p:cNvSpPr/>
          <p:nvPr/>
        </p:nvSpPr>
        <p:spPr>
          <a:xfrm>
            <a:off x="2929468" y="3107267"/>
            <a:ext cx="4451124" cy="2971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atin typeface="Times New Roman" panose="02020603050405020304" pitchFamily="18" charset="0"/>
                <a:cs typeface="Times New Roman" panose="02020603050405020304" pitchFamily="18" charset="0"/>
              </a:rPr>
              <a:t>SELECT p.name, SUM(b.runs) AS total_runs</a:t>
            </a:r>
          </a:p>
          <a:p>
            <a:pPr algn="ctr"/>
            <a:r>
              <a:rPr lang="en-US">
                <a:latin typeface="Times New Roman" panose="02020603050405020304" pitchFamily="18" charset="0"/>
                <a:cs typeface="Times New Roman" panose="02020603050405020304" pitchFamily="18" charset="0"/>
              </a:rPr>
              <a:t>FROM Batting_Stats b</a:t>
            </a:r>
          </a:p>
          <a:p>
            <a:pPr algn="ctr"/>
            <a:r>
              <a:rPr lang="en-US">
                <a:latin typeface="Times New Roman" panose="02020603050405020304" pitchFamily="18" charset="0"/>
                <a:cs typeface="Times New Roman" panose="02020603050405020304" pitchFamily="18" charset="0"/>
              </a:rPr>
              <a:t>JOIN Players p ON</a:t>
            </a:r>
          </a:p>
          <a:p>
            <a:pPr algn="ctr"/>
            <a:r>
              <a:rPr lang="en-US">
                <a:latin typeface="Times New Roman" panose="02020603050405020304" pitchFamily="18" charset="0"/>
                <a:cs typeface="Times New Roman" panose="02020603050405020304" pitchFamily="18" charset="0"/>
              </a:rPr>
              <a:t> b.player_id = p.player_id</a:t>
            </a:r>
          </a:p>
          <a:p>
            <a:pPr algn="ctr"/>
            <a:r>
              <a:rPr lang="en-US">
                <a:latin typeface="Times New Roman" panose="02020603050405020304" pitchFamily="18" charset="0"/>
                <a:cs typeface="Times New Roman" panose="02020603050405020304" pitchFamily="18" charset="0"/>
              </a:rPr>
              <a:t>GROUP BY p.name</a:t>
            </a:r>
          </a:p>
          <a:p>
            <a:pPr algn="ctr"/>
            <a:r>
              <a:rPr lang="en-US">
                <a:latin typeface="Times New Roman" panose="02020603050405020304" pitchFamily="18" charset="0"/>
                <a:cs typeface="Times New Roman" panose="02020603050405020304" pitchFamily="18" charset="0"/>
              </a:rPr>
              <a:t>ORDER BY total_runs DESC</a:t>
            </a:r>
          </a:p>
          <a:p>
            <a:pPr algn="ctr"/>
            <a:r>
              <a:rPr lang="en-US">
                <a:latin typeface="Times New Roman" panose="02020603050405020304" pitchFamily="18" charset="0"/>
                <a:cs typeface="Times New Roman" panose="02020603050405020304" pitchFamily="18" charset="0"/>
              </a:rPr>
              <a:t>LIMIT 5;</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3C79951-0396-BAFB-5FD8-DEAB477E2527}"/>
              </a:ext>
            </a:extLst>
          </p:cNvPr>
          <p:cNvPicPr>
            <a:picLocks noChangeAspect="1"/>
          </p:cNvPicPr>
          <p:nvPr/>
        </p:nvPicPr>
        <p:blipFill>
          <a:blip r:embed="rId2"/>
          <a:stretch>
            <a:fillRect/>
          </a:stretch>
        </p:blipFill>
        <p:spPr>
          <a:xfrm>
            <a:off x="9049679" y="2556934"/>
            <a:ext cx="2922188" cy="2286000"/>
          </a:xfrm>
          <a:prstGeom prst="rect">
            <a:avLst/>
          </a:prstGeom>
        </p:spPr>
      </p:pic>
      <p:sp>
        <p:nvSpPr>
          <p:cNvPr id="7" name="TextBox 6">
            <a:extLst>
              <a:ext uri="{FF2B5EF4-FFF2-40B4-BE49-F238E27FC236}">
                <a16:creationId xmlns:a16="http://schemas.microsoft.com/office/drawing/2014/main" id="{C2A3F2FC-094C-DE55-709A-EA8511A73640}"/>
              </a:ext>
            </a:extLst>
          </p:cNvPr>
          <p:cNvSpPr txBox="1"/>
          <p:nvPr/>
        </p:nvSpPr>
        <p:spPr>
          <a:xfrm>
            <a:off x="8669866" y="2033600"/>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9FA5E3AF-2099-AEC9-782F-2566FF08A228}"/>
              </a:ext>
            </a:extLst>
          </p:cNvPr>
          <p:cNvSpPr txBox="1"/>
          <p:nvPr/>
        </p:nvSpPr>
        <p:spPr>
          <a:xfrm>
            <a:off x="1032935" y="6239934"/>
            <a:ext cx="73829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Shows the top five players with the most total runs.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8528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9BCF816A-5EB7-96B9-7343-624079BBCD31}"/>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14.Count how many matches each team has won.</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B8C07D05-C048-0150-7D69-F00877F6A069}"/>
              </a:ext>
            </a:extLst>
          </p:cNvPr>
          <p:cNvSpPr/>
          <p:nvPr/>
        </p:nvSpPr>
        <p:spPr>
          <a:xfrm>
            <a:off x="2844800" y="3428999"/>
            <a:ext cx="4484991" cy="22436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a:t>
            </a:r>
            <a:r>
              <a:rPr lang="en-US" dirty="0" err="1">
                <a:latin typeface="Times New Roman" panose="02020603050405020304" pitchFamily="18" charset="0"/>
                <a:cs typeface="Times New Roman" panose="02020603050405020304" pitchFamily="18" charset="0"/>
              </a:rPr>
              <a:t>t.team_name</a:t>
            </a:r>
            <a:r>
              <a:rPr lang="en-US" dirty="0">
                <a:latin typeface="Times New Roman" panose="02020603050405020304" pitchFamily="18" charset="0"/>
                <a:cs typeface="Times New Roman" panose="02020603050405020304" pitchFamily="18" charset="0"/>
              </a:rPr>
              <a:t>, COUNT(*) AS wins</a:t>
            </a:r>
          </a:p>
          <a:p>
            <a:pPr algn="ctr"/>
            <a:r>
              <a:rPr lang="en-US" dirty="0">
                <a:latin typeface="Times New Roman" panose="02020603050405020304" pitchFamily="18" charset="0"/>
                <a:cs typeface="Times New Roman" panose="02020603050405020304" pitchFamily="18" charset="0"/>
              </a:rPr>
              <a:t>FROM Matches m</a:t>
            </a:r>
          </a:p>
          <a:p>
            <a:pPr algn="ctr"/>
            <a:r>
              <a:rPr lang="en-US" dirty="0">
                <a:latin typeface="Times New Roman" panose="02020603050405020304" pitchFamily="18" charset="0"/>
                <a:cs typeface="Times New Roman" panose="02020603050405020304" pitchFamily="18" charset="0"/>
              </a:rPr>
              <a:t>JOIN Teams t ON </a:t>
            </a:r>
          </a:p>
          <a:p>
            <a:pPr algn="ctr"/>
            <a:r>
              <a:rPr lang="en-US" dirty="0" err="1">
                <a:latin typeface="Times New Roman" panose="02020603050405020304" pitchFamily="18" charset="0"/>
                <a:cs typeface="Times New Roman" panose="02020603050405020304" pitchFamily="18" charset="0"/>
              </a:rPr>
              <a:t>m.winner_id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t.team_id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a:t>
            </a:r>
            <a:r>
              <a:rPr lang="en-US" dirty="0" err="1">
                <a:latin typeface="Times New Roman" panose="02020603050405020304" pitchFamily="18" charset="0"/>
                <a:cs typeface="Times New Roman" panose="02020603050405020304" pitchFamily="18" charset="0"/>
              </a:rPr>
              <a:t>t.team_name</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ORDER BY wins DESC;</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E68BEFD-A21A-715C-4E4C-4AFF2C24F6AF}"/>
              </a:ext>
            </a:extLst>
          </p:cNvPr>
          <p:cNvPicPr>
            <a:picLocks noChangeAspect="1"/>
          </p:cNvPicPr>
          <p:nvPr/>
        </p:nvPicPr>
        <p:blipFill>
          <a:blip r:embed="rId2"/>
          <a:stretch>
            <a:fillRect/>
          </a:stretch>
        </p:blipFill>
        <p:spPr>
          <a:xfrm>
            <a:off x="9347200" y="1862667"/>
            <a:ext cx="2692400" cy="3505199"/>
          </a:xfrm>
          <a:prstGeom prst="rect">
            <a:avLst/>
          </a:prstGeom>
        </p:spPr>
      </p:pic>
      <p:sp>
        <p:nvSpPr>
          <p:cNvPr id="7" name="TextBox 6">
            <a:extLst>
              <a:ext uri="{FF2B5EF4-FFF2-40B4-BE49-F238E27FC236}">
                <a16:creationId xmlns:a16="http://schemas.microsoft.com/office/drawing/2014/main" id="{30414A16-6D97-9300-85B3-8415303BA3D8}"/>
              </a:ext>
            </a:extLst>
          </p:cNvPr>
          <p:cNvSpPr txBox="1"/>
          <p:nvPr/>
        </p:nvSpPr>
        <p:spPr>
          <a:xfrm>
            <a:off x="8585200" y="1490133"/>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62D8B1E4-DB5E-7154-DCA0-2E341F4ABF30}"/>
              </a:ext>
            </a:extLst>
          </p:cNvPr>
          <p:cNvSpPr txBox="1"/>
          <p:nvPr/>
        </p:nvSpPr>
        <p:spPr>
          <a:xfrm>
            <a:off x="1416995" y="5785933"/>
            <a:ext cx="73406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Counts how many matches each team has won.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6521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0E5C628A-6201-E167-F6DC-8EE367832901}"/>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15.Show total wickets taken by each bowler.</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155CB052-E0D0-D09A-4261-84D8251B7176}"/>
              </a:ext>
            </a:extLst>
          </p:cNvPr>
          <p:cNvSpPr/>
          <p:nvPr/>
        </p:nvSpPr>
        <p:spPr>
          <a:xfrm>
            <a:off x="3031067" y="3428999"/>
            <a:ext cx="4298724" cy="22944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SUM(</a:t>
            </a:r>
            <a:r>
              <a:rPr lang="en-US" dirty="0" err="1">
                <a:latin typeface="Times New Roman" panose="02020603050405020304" pitchFamily="18" charset="0"/>
                <a:cs typeface="Times New Roman" panose="02020603050405020304" pitchFamily="18" charset="0"/>
              </a:rPr>
              <a:t>bw.wickets</a:t>
            </a:r>
            <a:r>
              <a:rPr lang="en-US" dirty="0">
                <a:latin typeface="Times New Roman" panose="02020603050405020304" pitchFamily="18" charset="0"/>
                <a:cs typeface="Times New Roman" panose="02020603050405020304" pitchFamily="18" charset="0"/>
              </a:rPr>
              <a:t>) AS </a:t>
            </a:r>
            <a:r>
              <a:rPr lang="en-US" dirty="0" err="1">
                <a:latin typeface="Times New Roman" panose="02020603050405020304" pitchFamily="18" charset="0"/>
                <a:cs typeface="Times New Roman" panose="02020603050405020304" pitchFamily="18" charset="0"/>
              </a:rPr>
              <a:t>total_wickets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a:t>
            </a:r>
            <a:r>
              <a:rPr lang="en-US" dirty="0" err="1">
                <a:latin typeface="Times New Roman" panose="02020603050405020304" pitchFamily="18" charset="0"/>
                <a:cs typeface="Times New Roman" panose="02020603050405020304" pitchFamily="18" charset="0"/>
              </a:rPr>
              <a:t>Bowling_Stats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bw</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JOIN Players p ON</a:t>
            </a:r>
          </a:p>
          <a:p>
            <a:pPr algn="ct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bw.player_id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p.name</a:t>
            </a:r>
          </a:p>
          <a:p>
            <a:pPr algn="ctr"/>
            <a:r>
              <a:rPr lang="en-US" dirty="0">
                <a:latin typeface="Times New Roman" panose="02020603050405020304" pitchFamily="18" charset="0"/>
                <a:cs typeface="Times New Roman" panose="02020603050405020304" pitchFamily="18" charset="0"/>
              </a:rPr>
              <a:t>ORDER BY </a:t>
            </a:r>
            <a:r>
              <a:rPr lang="en-US" dirty="0" err="1">
                <a:latin typeface="Times New Roman" panose="02020603050405020304" pitchFamily="18" charset="0"/>
                <a:cs typeface="Times New Roman" panose="02020603050405020304" pitchFamily="18" charset="0"/>
              </a:rPr>
              <a:t>total_wickets</a:t>
            </a:r>
            <a:r>
              <a:rPr lang="en-US" dirty="0">
                <a:latin typeface="Times New Roman" panose="02020603050405020304" pitchFamily="18" charset="0"/>
                <a:cs typeface="Times New Roman" panose="02020603050405020304" pitchFamily="18" charset="0"/>
              </a:rPr>
              <a:t> DESC;</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543ADBE-B965-7107-2736-712B73AAAB15}"/>
              </a:ext>
            </a:extLst>
          </p:cNvPr>
          <p:cNvPicPr>
            <a:picLocks noChangeAspect="1"/>
          </p:cNvPicPr>
          <p:nvPr/>
        </p:nvPicPr>
        <p:blipFill>
          <a:blip r:embed="rId2"/>
          <a:stretch>
            <a:fillRect/>
          </a:stretch>
        </p:blipFill>
        <p:spPr>
          <a:xfrm>
            <a:off x="8348133" y="2451861"/>
            <a:ext cx="3640667" cy="3034539"/>
          </a:xfrm>
          <a:prstGeom prst="rect">
            <a:avLst/>
          </a:prstGeom>
        </p:spPr>
      </p:pic>
      <p:sp>
        <p:nvSpPr>
          <p:cNvPr id="7" name="TextBox 6">
            <a:extLst>
              <a:ext uri="{FF2B5EF4-FFF2-40B4-BE49-F238E27FC236}">
                <a16:creationId xmlns:a16="http://schemas.microsoft.com/office/drawing/2014/main" id="{F28BD1C3-3354-B8DB-F70B-4EB4DF3FD757}"/>
              </a:ext>
            </a:extLst>
          </p:cNvPr>
          <p:cNvSpPr txBox="1"/>
          <p:nvPr/>
        </p:nvSpPr>
        <p:spPr>
          <a:xfrm>
            <a:off x="7924800" y="1950533"/>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44921F38-C2C2-DCC0-D1BD-85527999A641}"/>
              </a:ext>
            </a:extLst>
          </p:cNvPr>
          <p:cNvSpPr txBox="1"/>
          <p:nvPr/>
        </p:nvSpPr>
        <p:spPr>
          <a:xfrm>
            <a:off x="1253066" y="6021399"/>
            <a:ext cx="70104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Displays bowlers and their total wickets taken across matches</a:t>
            </a:r>
            <a:r>
              <a:rPr lang="en-US" dirty="0"/>
              <a:t>.</a:t>
            </a:r>
            <a:endParaRPr lang="en-IN" dirty="0"/>
          </a:p>
        </p:txBody>
      </p:sp>
    </p:spTree>
    <p:extLst>
      <p:ext uri="{BB962C8B-B14F-4D97-AF65-F5344CB8AC3E}">
        <p14:creationId xmlns:p14="http://schemas.microsoft.com/office/powerpoint/2010/main" val="3104365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83A4E015-20AA-2A9D-FF1B-0BFA3E006837}"/>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16.Find players who scored more than 150 runs overall.</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E5AAD3B4-C217-9F76-B98F-ACB05CFAD4AE}"/>
              </a:ext>
            </a:extLst>
          </p:cNvPr>
          <p:cNvSpPr/>
          <p:nvPr/>
        </p:nvSpPr>
        <p:spPr>
          <a:xfrm>
            <a:off x="3234267" y="3429000"/>
            <a:ext cx="4095524" cy="2159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SUM(</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AS </a:t>
            </a:r>
            <a:r>
              <a:rPr lang="en-US" dirty="0" err="1">
                <a:latin typeface="Times New Roman" panose="02020603050405020304" pitchFamily="18" charset="0"/>
                <a:cs typeface="Times New Roman" panose="02020603050405020304" pitchFamily="18" charset="0"/>
              </a:rPr>
              <a:t>total_runs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Batting_Stats b</a:t>
            </a:r>
          </a:p>
          <a:p>
            <a:pPr algn="ctr"/>
            <a:r>
              <a:rPr lang="en-US" dirty="0">
                <a:latin typeface="Times New Roman" panose="02020603050405020304" pitchFamily="18" charset="0"/>
                <a:cs typeface="Times New Roman" panose="02020603050405020304" pitchFamily="18" charset="0"/>
              </a:rPr>
              <a:t>JOIN Players p ON </a:t>
            </a:r>
          </a:p>
          <a:p>
            <a:pPr algn="ctr"/>
            <a:r>
              <a:rPr lang="en-US" dirty="0">
                <a:latin typeface="Times New Roman" panose="02020603050405020304" pitchFamily="18" charset="0"/>
                <a:cs typeface="Times New Roman" panose="02020603050405020304" pitchFamily="18" charset="0"/>
              </a:rPr>
              <a:t>b.player_id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p.name</a:t>
            </a:r>
          </a:p>
          <a:p>
            <a:pPr algn="ctr"/>
            <a:r>
              <a:rPr lang="en-US" dirty="0">
                <a:latin typeface="Times New Roman" panose="02020603050405020304" pitchFamily="18" charset="0"/>
                <a:cs typeface="Times New Roman" panose="02020603050405020304" pitchFamily="18" charset="0"/>
              </a:rPr>
              <a:t>HAVING SUM(</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&gt; 150;</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E34AD58-C114-1A49-DE6D-F49DED32FEBC}"/>
              </a:ext>
            </a:extLst>
          </p:cNvPr>
          <p:cNvPicPr>
            <a:picLocks noChangeAspect="1"/>
          </p:cNvPicPr>
          <p:nvPr/>
        </p:nvPicPr>
        <p:blipFill>
          <a:blip r:embed="rId2"/>
          <a:stretch>
            <a:fillRect/>
          </a:stretch>
        </p:blipFill>
        <p:spPr>
          <a:xfrm>
            <a:off x="8690385" y="1778001"/>
            <a:ext cx="3264547" cy="2963332"/>
          </a:xfrm>
          <a:prstGeom prst="rect">
            <a:avLst/>
          </a:prstGeom>
        </p:spPr>
      </p:pic>
      <p:sp>
        <p:nvSpPr>
          <p:cNvPr id="7" name="TextBox 6">
            <a:extLst>
              <a:ext uri="{FF2B5EF4-FFF2-40B4-BE49-F238E27FC236}">
                <a16:creationId xmlns:a16="http://schemas.microsoft.com/office/drawing/2014/main" id="{922622DB-1DE1-0F7D-71D0-2406E3F6730C}"/>
              </a:ext>
            </a:extLst>
          </p:cNvPr>
          <p:cNvSpPr txBox="1"/>
          <p:nvPr/>
        </p:nvSpPr>
        <p:spPr>
          <a:xfrm>
            <a:off x="8331200" y="1408669"/>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EF790827-1000-D757-E731-50239CEA0011}"/>
              </a:ext>
            </a:extLst>
          </p:cNvPr>
          <p:cNvSpPr txBox="1"/>
          <p:nvPr/>
        </p:nvSpPr>
        <p:spPr>
          <a:xfrm>
            <a:off x="1219201" y="5885934"/>
            <a:ext cx="72136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Lists players whose total runs exceed 150.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2621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4937D6E6-36D0-5A43-DC83-103D91F3A30B}"/>
              </a:ext>
            </a:extLst>
          </p:cNvPr>
          <p:cNvSpPr/>
          <p:nvPr/>
        </p:nvSpPr>
        <p:spPr>
          <a:xfrm>
            <a:off x="1032935" y="14901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17.Show teams with more than 3 wins.</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E3625072-1E05-C8ED-7CD5-BE6C3BC75ACD}"/>
              </a:ext>
            </a:extLst>
          </p:cNvPr>
          <p:cNvSpPr/>
          <p:nvPr/>
        </p:nvSpPr>
        <p:spPr>
          <a:xfrm>
            <a:off x="3081867" y="3428999"/>
            <a:ext cx="4247924" cy="21928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a:t>
            </a:r>
            <a:r>
              <a:rPr lang="en-US" dirty="0" err="1">
                <a:latin typeface="Times New Roman" panose="02020603050405020304" pitchFamily="18" charset="0"/>
                <a:cs typeface="Times New Roman" panose="02020603050405020304" pitchFamily="18" charset="0"/>
              </a:rPr>
              <a:t>t.team_name</a:t>
            </a:r>
            <a:r>
              <a:rPr lang="en-US" dirty="0">
                <a:latin typeface="Times New Roman" panose="02020603050405020304" pitchFamily="18" charset="0"/>
                <a:cs typeface="Times New Roman" panose="02020603050405020304" pitchFamily="18" charset="0"/>
              </a:rPr>
              <a:t>, COUNT(*) AS wins</a:t>
            </a:r>
          </a:p>
          <a:p>
            <a:pPr algn="ctr"/>
            <a:r>
              <a:rPr lang="en-US" dirty="0">
                <a:latin typeface="Times New Roman" panose="02020603050405020304" pitchFamily="18" charset="0"/>
                <a:cs typeface="Times New Roman" panose="02020603050405020304" pitchFamily="18" charset="0"/>
              </a:rPr>
              <a:t>FROM Matches m</a:t>
            </a:r>
          </a:p>
          <a:p>
            <a:pPr algn="ctr"/>
            <a:r>
              <a:rPr lang="en-US" dirty="0">
                <a:latin typeface="Times New Roman" panose="02020603050405020304" pitchFamily="18" charset="0"/>
                <a:cs typeface="Times New Roman" panose="02020603050405020304" pitchFamily="18" charset="0"/>
              </a:rPr>
              <a:t>JOIN Teams t ON </a:t>
            </a:r>
          </a:p>
          <a:p>
            <a:pPr algn="ctr"/>
            <a:r>
              <a:rPr lang="en-US" dirty="0" err="1">
                <a:latin typeface="Times New Roman" panose="02020603050405020304" pitchFamily="18" charset="0"/>
                <a:cs typeface="Times New Roman" panose="02020603050405020304" pitchFamily="18" charset="0"/>
              </a:rPr>
              <a:t>m.winner_id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t.team_id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a:t>
            </a:r>
            <a:r>
              <a:rPr lang="en-US" dirty="0" err="1">
                <a:latin typeface="Times New Roman" panose="02020603050405020304" pitchFamily="18" charset="0"/>
                <a:cs typeface="Times New Roman" panose="02020603050405020304" pitchFamily="18" charset="0"/>
              </a:rPr>
              <a:t>t.team_name</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HAVING COUNT(*) &gt; 3;</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DB1D521-685D-4929-54C3-FB3A9D7B836E}"/>
              </a:ext>
            </a:extLst>
          </p:cNvPr>
          <p:cNvPicPr>
            <a:picLocks noChangeAspect="1"/>
          </p:cNvPicPr>
          <p:nvPr/>
        </p:nvPicPr>
        <p:blipFill>
          <a:blip r:embed="rId2"/>
          <a:stretch>
            <a:fillRect/>
          </a:stretch>
        </p:blipFill>
        <p:spPr>
          <a:xfrm>
            <a:off x="8925354" y="2099733"/>
            <a:ext cx="2944913" cy="2319867"/>
          </a:xfrm>
          <a:prstGeom prst="rect">
            <a:avLst/>
          </a:prstGeom>
        </p:spPr>
      </p:pic>
      <p:sp>
        <p:nvSpPr>
          <p:cNvPr id="7" name="TextBox 6">
            <a:extLst>
              <a:ext uri="{FF2B5EF4-FFF2-40B4-BE49-F238E27FC236}">
                <a16:creationId xmlns:a16="http://schemas.microsoft.com/office/drawing/2014/main" id="{421DEAFE-E8A1-46FE-8BC6-CF678BB305B7}"/>
              </a:ext>
            </a:extLst>
          </p:cNvPr>
          <p:cNvSpPr txBox="1"/>
          <p:nvPr/>
        </p:nvSpPr>
        <p:spPr>
          <a:xfrm>
            <a:off x="8551333" y="1730401"/>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ECC340DB-0CE0-AD9E-558D-2139A86A61F4}"/>
              </a:ext>
            </a:extLst>
          </p:cNvPr>
          <p:cNvSpPr txBox="1"/>
          <p:nvPr/>
        </p:nvSpPr>
        <p:spPr>
          <a:xfrm>
            <a:off x="901700" y="5919799"/>
            <a:ext cx="732366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Finds teams that have won more than 3 matches.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877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A8868E3A-7B19-8641-62DD-504B0F8ECB29}"/>
              </a:ext>
            </a:extLst>
          </p:cNvPr>
          <p:cNvSpPr/>
          <p:nvPr/>
        </p:nvSpPr>
        <p:spPr>
          <a:xfrm>
            <a:off x="880535" y="10329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18.Find average economy rate of each bowler.</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C2D07F83-0682-AFD8-9713-DC0C0D2E7A81}"/>
              </a:ext>
            </a:extLst>
          </p:cNvPr>
          <p:cNvSpPr/>
          <p:nvPr/>
        </p:nvSpPr>
        <p:spPr>
          <a:xfrm>
            <a:off x="3081867" y="3428999"/>
            <a:ext cx="4247924" cy="21928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AVG(</a:t>
            </a:r>
            <a:r>
              <a:rPr lang="en-US" dirty="0" err="1">
                <a:latin typeface="Times New Roman" panose="02020603050405020304" pitchFamily="18" charset="0"/>
                <a:cs typeface="Times New Roman" panose="02020603050405020304" pitchFamily="18" charset="0"/>
              </a:rPr>
              <a:t>bw.economy</a:t>
            </a:r>
            <a:r>
              <a:rPr lang="en-US" dirty="0">
                <a:latin typeface="Times New Roman" panose="02020603050405020304" pitchFamily="18" charset="0"/>
                <a:cs typeface="Times New Roman" panose="02020603050405020304" pitchFamily="18" charset="0"/>
              </a:rPr>
              <a:t>) AS </a:t>
            </a:r>
            <a:r>
              <a:rPr lang="en-US" dirty="0" err="1">
                <a:latin typeface="Times New Roman" panose="02020603050405020304" pitchFamily="18" charset="0"/>
                <a:cs typeface="Times New Roman" panose="02020603050405020304" pitchFamily="18" charset="0"/>
              </a:rPr>
              <a:t>avg_economy</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a:t>
            </a:r>
            <a:r>
              <a:rPr lang="en-US" dirty="0" err="1">
                <a:latin typeface="Times New Roman" panose="02020603050405020304" pitchFamily="18" charset="0"/>
                <a:cs typeface="Times New Roman" panose="02020603050405020304" pitchFamily="18" charset="0"/>
              </a:rPr>
              <a:t>Bowling_Stats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bw</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JOIN Players p ON</a:t>
            </a:r>
          </a:p>
          <a:p>
            <a:pPr algn="ct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bw.player_id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p.name</a:t>
            </a:r>
          </a:p>
          <a:p>
            <a:pPr algn="ctr"/>
            <a:r>
              <a:rPr lang="en-US" dirty="0">
                <a:latin typeface="Times New Roman" panose="02020603050405020304" pitchFamily="18" charset="0"/>
                <a:cs typeface="Times New Roman" panose="02020603050405020304" pitchFamily="18" charset="0"/>
              </a:rPr>
              <a:t>ORDER BY </a:t>
            </a:r>
            <a:r>
              <a:rPr lang="en-US" dirty="0" err="1">
                <a:latin typeface="Times New Roman" panose="02020603050405020304" pitchFamily="18" charset="0"/>
                <a:cs typeface="Times New Roman" panose="02020603050405020304" pitchFamily="18" charset="0"/>
              </a:rPr>
              <a:t>avg_economy</a:t>
            </a:r>
            <a:r>
              <a:rPr lang="en-US" dirty="0">
                <a:latin typeface="Times New Roman" panose="02020603050405020304" pitchFamily="18" charset="0"/>
                <a:cs typeface="Times New Roman" panose="02020603050405020304" pitchFamily="18" charset="0"/>
              </a:rPr>
              <a:t> ASC;</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F7D9C74-8326-E39E-63DC-8D0AD97C40B5}"/>
              </a:ext>
            </a:extLst>
          </p:cNvPr>
          <p:cNvPicPr>
            <a:picLocks noChangeAspect="1"/>
          </p:cNvPicPr>
          <p:nvPr/>
        </p:nvPicPr>
        <p:blipFill>
          <a:blip r:embed="rId2"/>
          <a:stretch>
            <a:fillRect/>
          </a:stretch>
        </p:blipFill>
        <p:spPr>
          <a:xfrm>
            <a:off x="7975602" y="2023384"/>
            <a:ext cx="3979332" cy="3463016"/>
          </a:xfrm>
          <a:prstGeom prst="rect">
            <a:avLst/>
          </a:prstGeom>
        </p:spPr>
      </p:pic>
      <p:sp>
        <p:nvSpPr>
          <p:cNvPr id="7" name="TextBox 6">
            <a:extLst>
              <a:ext uri="{FF2B5EF4-FFF2-40B4-BE49-F238E27FC236}">
                <a16:creationId xmlns:a16="http://schemas.microsoft.com/office/drawing/2014/main" id="{A6A61699-AE2E-697E-41BE-8AD0D6122725}"/>
              </a:ext>
            </a:extLst>
          </p:cNvPr>
          <p:cNvSpPr txBox="1"/>
          <p:nvPr/>
        </p:nvSpPr>
        <p:spPr>
          <a:xfrm>
            <a:off x="7518401" y="1576400"/>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F580183D-5EC1-C93D-AD14-EFE532E48BC3}"/>
              </a:ext>
            </a:extLst>
          </p:cNvPr>
          <p:cNvSpPr txBox="1"/>
          <p:nvPr/>
        </p:nvSpPr>
        <p:spPr>
          <a:xfrm>
            <a:off x="1016000" y="5825067"/>
            <a:ext cx="68072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Calculates the average economy rate for each bowler.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0721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B1BF0D20-FED4-E6E3-3093-7063726DFFE4}"/>
              </a:ext>
            </a:extLst>
          </p:cNvPr>
          <p:cNvSpPr/>
          <p:nvPr/>
        </p:nvSpPr>
        <p:spPr>
          <a:xfrm>
            <a:off x="880535" y="10329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19.List players who hit more than 10 sixes in total.</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3E75E450-CB7E-EFD4-1EEC-454CD31678A5}"/>
              </a:ext>
            </a:extLst>
          </p:cNvPr>
          <p:cNvSpPr/>
          <p:nvPr/>
        </p:nvSpPr>
        <p:spPr>
          <a:xfrm>
            <a:off x="3081867" y="3428999"/>
            <a:ext cx="4247924" cy="21928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SUM(</a:t>
            </a:r>
            <a:r>
              <a:rPr lang="en-US" dirty="0" err="1">
                <a:latin typeface="Times New Roman" panose="02020603050405020304" pitchFamily="18" charset="0"/>
                <a:cs typeface="Times New Roman" panose="02020603050405020304" pitchFamily="18" charset="0"/>
              </a:rPr>
              <a:t>b.sixes</a:t>
            </a:r>
            <a:r>
              <a:rPr lang="en-US" dirty="0">
                <a:latin typeface="Times New Roman" panose="02020603050405020304" pitchFamily="18" charset="0"/>
                <a:cs typeface="Times New Roman" panose="02020603050405020304" pitchFamily="18" charset="0"/>
              </a:rPr>
              <a:t>) AS </a:t>
            </a:r>
            <a:r>
              <a:rPr lang="en-US" dirty="0" err="1">
                <a:latin typeface="Times New Roman" panose="02020603050405020304" pitchFamily="18" charset="0"/>
                <a:cs typeface="Times New Roman" panose="02020603050405020304" pitchFamily="18" charset="0"/>
              </a:rPr>
              <a:t>total_sixes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Batting_Stats b</a:t>
            </a:r>
          </a:p>
          <a:p>
            <a:pPr algn="ctr"/>
            <a:r>
              <a:rPr lang="en-US" dirty="0">
                <a:latin typeface="Times New Roman" panose="02020603050405020304" pitchFamily="18" charset="0"/>
                <a:cs typeface="Times New Roman" panose="02020603050405020304" pitchFamily="18" charset="0"/>
              </a:rPr>
              <a:t>JOIN Players p ON b.player_id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p.name</a:t>
            </a:r>
          </a:p>
          <a:p>
            <a:pPr algn="ctr"/>
            <a:r>
              <a:rPr lang="en-US" dirty="0">
                <a:latin typeface="Times New Roman" panose="02020603050405020304" pitchFamily="18" charset="0"/>
                <a:cs typeface="Times New Roman" panose="02020603050405020304" pitchFamily="18" charset="0"/>
              </a:rPr>
              <a:t>HAVING SUM(</a:t>
            </a:r>
            <a:r>
              <a:rPr lang="en-US" dirty="0" err="1">
                <a:latin typeface="Times New Roman" panose="02020603050405020304" pitchFamily="18" charset="0"/>
                <a:cs typeface="Times New Roman" panose="02020603050405020304" pitchFamily="18" charset="0"/>
              </a:rPr>
              <a:t>b.sixes</a:t>
            </a:r>
            <a:r>
              <a:rPr lang="en-US" dirty="0">
                <a:latin typeface="Times New Roman" panose="02020603050405020304" pitchFamily="18" charset="0"/>
                <a:cs typeface="Times New Roman" panose="02020603050405020304" pitchFamily="18" charset="0"/>
              </a:rPr>
              <a:t>) &gt;5;</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6BC3FFD-45D7-A9D3-108E-37B2536B4AE6}"/>
              </a:ext>
            </a:extLst>
          </p:cNvPr>
          <p:cNvPicPr>
            <a:picLocks noChangeAspect="1"/>
          </p:cNvPicPr>
          <p:nvPr/>
        </p:nvPicPr>
        <p:blipFill>
          <a:blip r:embed="rId2"/>
          <a:stretch>
            <a:fillRect/>
          </a:stretch>
        </p:blipFill>
        <p:spPr>
          <a:xfrm>
            <a:off x="8720666" y="2165282"/>
            <a:ext cx="3115733" cy="1263717"/>
          </a:xfrm>
          <a:prstGeom prst="rect">
            <a:avLst/>
          </a:prstGeom>
        </p:spPr>
      </p:pic>
      <p:sp>
        <p:nvSpPr>
          <p:cNvPr id="7" name="TextBox 6">
            <a:extLst>
              <a:ext uri="{FF2B5EF4-FFF2-40B4-BE49-F238E27FC236}">
                <a16:creationId xmlns:a16="http://schemas.microsoft.com/office/drawing/2014/main" id="{A6A5B657-DB03-9438-94C8-3A7A45B8731A}"/>
              </a:ext>
            </a:extLst>
          </p:cNvPr>
          <p:cNvSpPr txBox="1"/>
          <p:nvPr/>
        </p:nvSpPr>
        <p:spPr>
          <a:xfrm>
            <a:off x="8060267" y="1761066"/>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6BBD97F7-4D29-F7AE-875A-857AAC3CDF82}"/>
              </a:ext>
            </a:extLst>
          </p:cNvPr>
          <p:cNvSpPr txBox="1"/>
          <p:nvPr/>
        </p:nvSpPr>
        <p:spPr>
          <a:xfrm>
            <a:off x="1422400" y="5825067"/>
            <a:ext cx="70781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Lists players who have hit more than 5 sixes in total.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67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082C0754-A33D-F0B4-7C5C-9680EDD87630}"/>
              </a:ext>
            </a:extLst>
          </p:cNvPr>
          <p:cNvSpPr/>
          <p:nvPr/>
        </p:nvSpPr>
        <p:spPr>
          <a:xfrm>
            <a:off x="880535" y="10329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20.Find the player who scored the highest runs in a single match.</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12670C11-83AA-8FD0-A018-0D1E09BBF570}"/>
              </a:ext>
            </a:extLst>
          </p:cNvPr>
          <p:cNvSpPr/>
          <p:nvPr/>
        </p:nvSpPr>
        <p:spPr>
          <a:xfrm>
            <a:off x="2997200" y="3428999"/>
            <a:ext cx="4332591" cy="23960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a:t>
            </a:r>
            <a:r>
              <a:rPr lang="en-US" dirty="0" err="1">
                <a:latin typeface="Times New Roman" panose="02020603050405020304" pitchFamily="18" charset="0"/>
                <a:cs typeface="Times New Roman" panose="02020603050405020304" pitchFamily="18" charset="0"/>
              </a:rPr>
              <a:t>b.runs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Batting_Stats b</a:t>
            </a:r>
          </a:p>
          <a:p>
            <a:pPr algn="ctr"/>
            <a:r>
              <a:rPr lang="en-US" dirty="0">
                <a:latin typeface="Times New Roman" panose="02020603050405020304" pitchFamily="18" charset="0"/>
                <a:cs typeface="Times New Roman" panose="02020603050405020304" pitchFamily="18" charset="0"/>
              </a:rPr>
              <a:t>JOIN Players p ON b.player_id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 (</a:t>
            </a:r>
          </a:p>
          <a:p>
            <a:pPr algn="ctr"/>
            <a:r>
              <a:rPr lang="en-US" dirty="0">
                <a:latin typeface="Times New Roman" panose="02020603050405020304" pitchFamily="18" charset="0"/>
                <a:cs typeface="Times New Roman" panose="02020603050405020304" pitchFamily="18" charset="0"/>
              </a:rPr>
              <a:t>    SELECT MAX(runs)</a:t>
            </a:r>
          </a:p>
          <a:p>
            <a:pPr algn="ctr"/>
            <a:r>
              <a:rPr lang="en-US" dirty="0">
                <a:latin typeface="Times New Roman" panose="02020603050405020304" pitchFamily="18" charset="0"/>
                <a:cs typeface="Times New Roman" panose="02020603050405020304" pitchFamily="18" charset="0"/>
              </a:rPr>
              <a:t>    FROM Batting_Stats</a:t>
            </a:r>
          </a:p>
          <a:p>
            <a:pPr algn="ctr"/>
            <a:r>
              <a:rPr lang="en-US"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94E9D831-DABC-FC83-11F0-5CB606892A38}"/>
              </a:ext>
            </a:extLst>
          </p:cNvPr>
          <p:cNvPicPr>
            <a:picLocks noChangeAspect="1"/>
          </p:cNvPicPr>
          <p:nvPr/>
        </p:nvPicPr>
        <p:blipFill>
          <a:blip r:embed="rId2"/>
          <a:stretch>
            <a:fillRect/>
          </a:stretch>
        </p:blipFill>
        <p:spPr>
          <a:xfrm>
            <a:off x="8862384" y="2489200"/>
            <a:ext cx="2906283" cy="1144615"/>
          </a:xfrm>
          <a:prstGeom prst="rect">
            <a:avLst/>
          </a:prstGeom>
        </p:spPr>
      </p:pic>
      <p:sp>
        <p:nvSpPr>
          <p:cNvPr id="7" name="TextBox 6">
            <a:extLst>
              <a:ext uri="{FF2B5EF4-FFF2-40B4-BE49-F238E27FC236}">
                <a16:creationId xmlns:a16="http://schemas.microsoft.com/office/drawing/2014/main" id="{0E8DE25F-C68D-294C-47F3-8DF50D5D93D2}"/>
              </a:ext>
            </a:extLst>
          </p:cNvPr>
          <p:cNvSpPr txBox="1"/>
          <p:nvPr/>
        </p:nvSpPr>
        <p:spPr>
          <a:xfrm>
            <a:off x="8263465" y="2119868"/>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A0894561-5215-31C6-9534-A97B30907A82}"/>
              </a:ext>
            </a:extLst>
          </p:cNvPr>
          <p:cNvSpPr txBox="1"/>
          <p:nvPr/>
        </p:nvSpPr>
        <p:spPr>
          <a:xfrm>
            <a:off x="1236134" y="6123001"/>
            <a:ext cx="71797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Finds the player with the single highest score across matches</a:t>
            </a:r>
            <a:r>
              <a:rPr lang="en-US" dirty="0"/>
              <a:t>.</a:t>
            </a:r>
            <a:endParaRPr lang="en-IN" dirty="0"/>
          </a:p>
        </p:txBody>
      </p:sp>
    </p:spTree>
    <p:extLst>
      <p:ext uri="{BB962C8B-B14F-4D97-AF65-F5344CB8AC3E}">
        <p14:creationId xmlns:p14="http://schemas.microsoft.com/office/powerpoint/2010/main" val="3568091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32F2BC8A-0723-31C5-0AF2-7DEF7BEF7005}"/>
              </a:ext>
            </a:extLst>
          </p:cNvPr>
          <p:cNvSpPr/>
          <p:nvPr/>
        </p:nvSpPr>
        <p:spPr>
          <a:xfrm>
            <a:off x="880535" y="10329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21.Find the bowler with the best economy in ODI matches.</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932A8915-D153-6FEA-1CB3-C121ED2894CF}"/>
              </a:ext>
            </a:extLst>
          </p:cNvPr>
          <p:cNvSpPr/>
          <p:nvPr/>
        </p:nvSpPr>
        <p:spPr>
          <a:xfrm>
            <a:off x="2387600" y="3107266"/>
            <a:ext cx="4942191" cy="29379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atin typeface="Times New Roman" panose="02020603050405020304" pitchFamily="18" charset="0"/>
                <a:cs typeface="Times New Roman" panose="02020603050405020304" pitchFamily="18" charset="0"/>
              </a:rPr>
              <a:t>SELECT p.name, bw.economy</a:t>
            </a:r>
          </a:p>
          <a:p>
            <a:pPr algn="ctr"/>
            <a:r>
              <a:rPr lang="en-US">
                <a:latin typeface="Times New Roman" panose="02020603050405020304" pitchFamily="18" charset="0"/>
                <a:cs typeface="Times New Roman" panose="02020603050405020304" pitchFamily="18" charset="0"/>
              </a:rPr>
              <a:t>FROM Bowling_Stats bw</a:t>
            </a:r>
          </a:p>
          <a:p>
            <a:pPr algn="ctr"/>
            <a:r>
              <a:rPr lang="en-US">
                <a:latin typeface="Times New Roman" panose="02020603050405020304" pitchFamily="18" charset="0"/>
                <a:cs typeface="Times New Roman" panose="02020603050405020304" pitchFamily="18" charset="0"/>
              </a:rPr>
              <a:t>JOIN Matches m ON bw.match_id = m.match_id</a:t>
            </a:r>
          </a:p>
          <a:p>
            <a:pPr algn="ctr"/>
            <a:r>
              <a:rPr lang="en-US">
                <a:latin typeface="Times New Roman" panose="02020603050405020304" pitchFamily="18" charset="0"/>
                <a:cs typeface="Times New Roman" panose="02020603050405020304" pitchFamily="18" charset="0"/>
              </a:rPr>
              <a:t>JOIN Players p ON </a:t>
            </a:r>
          </a:p>
          <a:p>
            <a:pPr algn="ctr"/>
            <a:r>
              <a:rPr lang="en-US">
                <a:latin typeface="Times New Roman" panose="02020603050405020304" pitchFamily="18" charset="0"/>
                <a:cs typeface="Times New Roman" panose="02020603050405020304" pitchFamily="18" charset="0"/>
              </a:rPr>
              <a:t>bw.player_id = p.player_id</a:t>
            </a:r>
          </a:p>
          <a:p>
            <a:pPr algn="ctr"/>
            <a:r>
              <a:rPr lang="en-US">
                <a:latin typeface="Times New Roman" panose="02020603050405020304" pitchFamily="18" charset="0"/>
                <a:cs typeface="Times New Roman" panose="02020603050405020304" pitchFamily="18" charset="0"/>
              </a:rPr>
              <a:t>WHERE m.format = 'ODI'</a:t>
            </a:r>
          </a:p>
          <a:p>
            <a:pPr algn="ctr"/>
            <a:r>
              <a:rPr lang="en-US">
                <a:latin typeface="Times New Roman" panose="02020603050405020304" pitchFamily="18" charset="0"/>
                <a:cs typeface="Times New Roman" panose="02020603050405020304" pitchFamily="18" charset="0"/>
              </a:rPr>
              <a:t>ORDER BY bw.economy ASC</a:t>
            </a:r>
          </a:p>
          <a:p>
            <a:pPr algn="ctr"/>
            <a:r>
              <a:rPr lang="en-US">
                <a:latin typeface="Times New Roman" panose="02020603050405020304" pitchFamily="18" charset="0"/>
                <a:cs typeface="Times New Roman" panose="02020603050405020304" pitchFamily="18" charset="0"/>
              </a:rPr>
              <a:t>LIMIT 1;</a:t>
            </a:r>
          </a:p>
          <a:p>
            <a:pPr algn="ct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1CD2D1-3A45-8294-B282-7963712C6980}"/>
              </a:ext>
            </a:extLst>
          </p:cNvPr>
          <p:cNvPicPr>
            <a:picLocks noChangeAspect="1"/>
          </p:cNvPicPr>
          <p:nvPr/>
        </p:nvPicPr>
        <p:blipFill>
          <a:blip r:embed="rId2"/>
          <a:stretch>
            <a:fillRect/>
          </a:stretch>
        </p:blipFill>
        <p:spPr>
          <a:xfrm>
            <a:off x="8331200" y="2133600"/>
            <a:ext cx="3482262" cy="829734"/>
          </a:xfrm>
          <a:prstGeom prst="rect">
            <a:avLst/>
          </a:prstGeom>
        </p:spPr>
      </p:pic>
      <p:sp>
        <p:nvSpPr>
          <p:cNvPr id="7" name="TextBox 6">
            <a:extLst>
              <a:ext uri="{FF2B5EF4-FFF2-40B4-BE49-F238E27FC236}">
                <a16:creationId xmlns:a16="http://schemas.microsoft.com/office/drawing/2014/main" id="{9D1A23EC-58CD-63C4-6395-B8D65CD22052}"/>
              </a:ext>
            </a:extLst>
          </p:cNvPr>
          <p:cNvSpPr txBox="1"/>
          <p:nvPr/>
        </p:nvSpPr>
        <p:spPr>
          <a:xfrm>
            <a:off x="7840134" y="1761066"/>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6A82CA8D-05D1-B22F-C9C0-F850EF58EDDF}"/>
              </a:ext>
            </a:extLst>
          </p:cNvPr>
          <p:cNvSpPr txBox="1"/>
          <p:nvPr/>
        </p:nvSpPr>
        <p:spPr>
          <a:xfrm>
            <a:off x="740833" y="6293934"/>
            <a:ext cx="696806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Retrieves the bowler with the best economy rate in ODI matches.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6882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DCBFC5C3-06A8-F9B2-D099-5CE78EF60B20}"/>
              </a:ext>
            </a:extLst>
          </p:cNvPr>
          <p:cNvSpPr/>
          <p:nvPr/>
        </p:nvSpPr>
        <p:spPr>
          <a:xfrm>
            <a:off x="880535" y="10329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22.Get players whose strike rate is above the team average.</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FA606376-BDFC-7895-06F8-CF2F8725DAC3}"/>
              </a:ext>
            </a:extLst>
          </p:cNvPr>
          <p:cNvSpPr/>
          <p:nvPr/>
        </p:nvSpPr>
        <p:spPr>
          <a:xfrm>
            <a:off x="2997200" y="3428999"/>
            <a:ext cx="4332591" cy="23960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a:t>
            </a:r>
            <a:r>
              <a:rPr lang="en-US" dirty="0" err="1">
                <a:latin typeface="Times New Roman" panose="02020603050405020304" pitchFamily="18" charset="0"/>
                <a:cs typeface="Times New Roman" panose="02020603050405020304" pitchFamily="18" charset="0"/>
              </a:rPr>
              <a:t>b.strike_rate</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Batting_Stats b</a:t>
            </a:r>
          </a:p>
          <a:p>
            <a:pPr algn="ctr"/>
            <a:r>
              <a:rPr lang="en-US" dirty="0">
                <a:latin typeface="Times New Roman" panose="02020603050405020304" pitchFamily="18" charset="0"/>
                <a:cs typeface="Times New Roman" panose="02020603050405020304" pitchFamily="18" charset="0"/>
              </a:rPr>
              <a:t>JOIN Players p ON b.player_id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b.strike_rate</a:t>
            </a:r>
            <a:r>
              <a:rPr lang="en-US" dirty="0">
                <a:latin typeface="Times New Roman" panose="02020603050405020304" pitchFamily="18" charset="0"/>
                <a:cs typeface="Times New Roman" panose="02020603050405020304" pitchFamily="18" charset="0"/>
              </a:rPr>
              <a:t> &gt; (</a:t>
            </a:r>
          </a:p>
          <a:p>
            <a:pPr algn="ctr"/>
            <a:r>
              <a:rPr lang="en-US" dirty="0">
                <a:latin typeface="Times New Roman" panose="02020603050405020304" pitchFamily="18" charset="0"/>
                <a:cs typeface="Times New Roman" panose="02020603050405020304" pitchFamily="18" charset="0"/>
              </a:rPr>
              <a:t>    SELECT AVG(</a:t>
            </a:r>
            <a:r>
              <a:rPr lang="en-US" dirty="0" err="1">
                <a:latin typeface="Times New Roman" panose="02020603050405020304" pitchFamily="18" charset="0"/>
                <a:cs typeface="Times New Roman" panose="02020603050405020304" pitchFamily="18" charset="0"/>
              </a:rPr>
              <a:t>strike_rate</a:t>
            </a:r>
            <a:r>
              <a:rPr lang="en-US" dirty="0">
                <a:latin typeface="Times New Roman" panose="02020603050405020304" pitchFamily="18" charset="0"/>
                <a:cs typeface="Times New Roman" panose="02020603050405020304" pitchFamily="18" charset="0"/>
              </a:rPr>
              <a:t>) FROM Batting_Stats</a:t>
            </a:r>
          </a:p>
          <a:p>
            <a:pPr algn="ctr"/>
            <a:r>
              <a:rPr lang="en-US"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70E44645-0556-6B2E-ADDE-B8F63E7FB101}"/>
              </a:ext>
            </a:extLst>
          </p:cNvPr>
          <p:cNvPicPr>
            <a:picLocks noChangeAspect="1"/>
          </p:cNvPicPr>
          <p:nvPr/>
        </p:nvPicPr>
        <p:blipFill>
          <a:blip r:embed="rId2"/>
          <a:stretch>
            <a:fillRect/>
          </a:stretch>
        </p:blipFill>
        <p:spPr>
          <a:xfrm>
            <a:off x="8771467" y="1659467"/>
            <a:ext cx="3251200" cy="3335865"/>
          </a:xfrm>
          <a:prstGeom prst="rect">
            <a:avLst/>
          </a:prstGeom>
        </p:spPr>
      </p:pic>
      <p:sp>
        <p:nvSpPr>
          <p:cNvPr id="7" name="TextBox 6">
            <a:extLst>
              <a:ext uri="{FF2B5EF4-FFF2-40B4-BE49-F238E27FC236}">
                <a16:creationId xmlns:a16="http://schemas.microsoft.com/office/drawing/2014/main" id="{2D3A2F4C-6A3A-52E6-9862-D884F85A10D4}"/>
              </a:ext>
            </a:extLst>
          </p:cNvPr>
          <p:cNvSpPr txBox="1"/>
          <p:nvPr/>
        </p:nvSpPr>
        <p:spPr>
          <a:xfrm>
            <a:off x="8263465" y="1290135"/>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F0D21E06-674A-EF27-98E9-79A61ED2EDAC}"/>
              </a:ext>
            </a:extLst>
          </p:cNvPr>
          <p:cNvSpPr txBox="1"/>
          <p:nvPr/>
        </p:nvSpPr>
        <p:spPr>
          <a:xfrm>
            <a:off x="880535" y="6123001"/>
            <a:ext cx="71797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Lists players whose strike rate is above the overall average.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2653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64D88701-626A-A827-E825-A6CD7B0D471C}"/>
              </a:ext>
            </a:extLst>
          </p:cNvPr>
          <p:cNvSpPr/>
          <p:nvPr/>
        </p:nvSpPr>
        <p:spPr>
          <a:xfrm>
            <a:off x="880535" y="10329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23.Find matches where the winning team scored more than 180 runs.</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3502D2EE-2B14-83BC-10A9-847FDF97CCA0}"/>
              </a:ext>
            </a:extLst>
          </p:cNvPr>
          <p:cNvSpPr/>
          <p:nvPr/>
        </p:nvSpPr>
        <p:spPr>
          <a:xfrm>
            <a:off x="2387600" y="3429000"/>
            <a:ext cx="4722059" cy="2768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DISTINCT </a:t>
            </a:r>
            <a:r>
              <a:rPr lang="en-US" dirty="0" err="1">
                <a:latin typeface="Times New Roman" panose="02020603050405020304" pitchFamily="18" charset="0"/>
                <a:cs typeface="Times New Roman" panose="02020603050405020304" pitchFamily="18" charset="0"/>
              </a:rPr>
              <a:t>m.match_id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m.venue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t.team_name</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Matches m</a:t>
            </a:r>
          </a:p>
          <a:p>
            <a:pPr algn="ctr"/>
            <a:r>
              <a:rPr lang="en-US" dirty="0">
                <a:latin typeface="Times New Roman" panose="02020603050405020304" pitchFamily="18" charset="0"/>
                <a:cs typeface="Times New Roman" panose="02020603050405020304" pitchFamily="18" charset="0"/>
              </a:rPr>
              <a:t>JOIN Teams t ON </a:t>
            </a:r>
            <a:r>
              <a:rPr lang="en-US" dirty="0" err="1">
                <a:latin typeface="Times New Roman" panose="02020603050405020304" pitchFamily="18" charset="0"/>
                <a:cs typeface="Times New Roman" panose="02020603050405020304" pitchFamily="18" charset="0"/>
              </a:rPr>
              <a:t>m.winner_id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t.team_id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JOIN Batting_Stats b ON</a:t>
            </a:r>
          </a:p>
          <a:p>
            <a:pPr algn="ct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m.match_id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b.match_id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a:t>
            </a:r>
            <a:r>
              <a:rPr lang="en-US" dirty="0" err="1">
                <a:latin typeface="Times New Roman" panose="02020603050405020304" pitchFamily="18" charset="0"/>
                <a:cs typeface="Times New Roman" panose="02020603050405020304" pitchFamily="18" charset="0"/>
              </a:rPr>
              <a:t>m.match_id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t.team_name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m.venue</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HAVING SUM(</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&gt;= 180;</a:t>
            </a:r>
          </a:p>
        </p:txBody>
      </p:sp>
      <p:pic>
        <p:nvPicPr>
          <p:cNvPr id="5" name="Picture 4">
            <a:extLst>
              <a:ext uri="{FF2B5EF4-FFF2-40B4-BE49-F238E27FC236}">
                <a16:creationId xmlns:a16="http://schemas.microsoft.com/office/drawing/2014/main" id="{A1E25A0A-5A00-C1E7-6F1A-C11C9F8E46D3}"/>
              </a:ext>
            </a:extLst>
          </p:cNvPr>
          <p:cNvPicPr>
            <a:picLocks noChangeAspect="1"/>
          </p:cNvPicPr>
          <p:nvPr/>
        </p:nvPicPr>
        <p:blipFill>
          <a:blip r:embed="rId2"/>
          <a:stretch>
            <a:fillRect/>
          </a:stretch>
        </p:blipFill>
        <p:spPr>
          <a:xfrm>
            <a:off x="8586624" y="2702943"/>
            <a:ext cx="3165109" cy="1445724"/>
          </a:xfrm>
          <a:prstGeom prst="rect">
            <a:avLst/>
          </a:prstGeom>
        </p:spPr>
      </p:pic>
      <p:sp>
        <p:nvSpPr>
          <p:cNvPr id="7" name="TextBox 6">
            <a:extLst>
              <a:ext uri="{FF2B5EF4-FFF2-40B4-BE49-F238E27FC236}">
                <a16:creationId xmlns:a16="http://schemas.microsoft.com/office/drawing/2014/main" id="{4E7C7439-F5DA-4117-5B42-1486E111A0C1}"/>
              </a:ext>
            </a:extLst>
          </p:cNvPr>
          <p:cNvSpPr txBox="1"/>
          <p:nvPr/>
        </p:nvSpPr>
        <p:spPr>
          <a:xfrm>
            <a:off x="7874000" y="2333611"/>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92766C58-C8D9-FA78-CDB8-722E9FC501EF}"/>
              </a:ext>
            </a:extLst>
          </p:cNvPr>
          <p:cNvSpPr txBox="1"/>
          <p:nvPr/>
        </p:nvSpPr>
        <p:spPr>
          <a:xfrm>
            <a:off x="1181101" y="6197600"/>
            <a:ext cx="6985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Shows matches where the winning team’s total runs were at least 180</a:t>
            </a:r>
            <a:r>
              <a:rPr lang="en-US" dirty="0"/>
              <a:t>.</a:t>
            </a:r>
            <a:endParaRPr lang="en-IN" dirty="0"/>
          </a:p>
        </p:txBody>
      </p:sp>
    </p:spTree>
    <p:extLst>
      <p:ext uri="{BB962C8B-B14F-4D97-AF65-F5344CB8AC3E}">
        <p14:creationId xmlns:p14="http://schemas.microsoft.com/office/powerpoint/2010/main" val="3364754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BF23B22D-1FFF-2BA9-30D2-9E94BC86E66C}"/>
              </a:ext>
            </a:extLst>
          </p:cNvPr>
          <p:cNvSpPr/>
          <p:nvPr/>
        </p:nvSpPr>
        <p:spPr>
          <a:xfrm>
            <a:off x="880535" y="1032933"/>
            <a:ext cx="3793066" cy="1456267"/>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24.List teams that have never won a match.</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B73690C1-AE1C-C9C5-DFD3-27A77ED6092B}"/>
              </a:ext>
            </a:extLst>
          </p:cNvPr>
          <p:cNvSpPr/>
          <p:nvPr/>
        </p:nvSpPr>
        <p:spPr>
          <a:xfrm>
            <a:off x="2387600" y="3429000"/>
            <a:ext cx="4722059" cy="2768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a:t>
            </a:r>
            <a:r>
              <a:rPr lang="en-US" dirty="0" err="1">
                <a:latin typeface="Times New Roman" panose="02020603050405020304" pitchFamily="18" charset="0"/>
                <a:cs typeface="Times New Roman" panose="02020603050405020304" pitchFamily="18" charset="0"/>
              </a:rPr>
              <a:t>team_name</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Teams</a:t>
            </a:r>
          </a:p>
          <a:p>
            <a:pPr algn="ctr"/>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team_id</a:t>
            </a:r>
            <a:r>
              <a:rPr lang="en-US" dirty="0">
                <a:latin typeface="Times New Roman" panose="02020603050405020304" pitchFamily="18" charset="0"/>
                <a:cs typeface="Times New Roman" panose="02020603050405020304" pitchFamily="18" charset="0"/>
              </a:rPr>
              <a:t> NOT IN (</a:t>
            </a:r>
          </a:p>
          <a:p>
            <a:pPr algn="ctr"/>
            <a:r>
              <a:rPr lang="en-US" dirty="0">
                <a:latin typeface="Times New Roman" panose="02020603050405020304" pitchFamily="18" charset="0"/>
                <a:cs typeface="Times New Roman" panose="02020603050405020304" pitchFamily="18" charset="0"/>
              </a:rPr>
              <a:t>    SELECT DISTINCT winner_id FROM Matches );</a:t>
            </a:r>
          </a:p>
        </p:txBody>
      </p:sp>
      <p:pic>
        <p:nvPicPr>
          <p:cNvPr id="5" name="Picture 4">
            <a:extLst>
              <a:ext uri="{FF2B5EF4-FFF2-40B4-BE49-F238E27FC236}">
                <a16:creationId xmlns:a16="http://schemas.microsoft.com/office/drawing/2014/main" id="{94ADAB88-0868-8C51-7E7B-C6800C35F01B}"/>
              </a:ext>
            </a:extLst>
          </p:cNvPr>
          <p:cNvPicPr>
            <a:picLocks noChangeAspect="1"/>
          </p:cNvPicPr>
          <p:nvPr/>
        </p:nvPicPr>
        <p:blipFill>
          <a:blip r:embed="rId2"/>
          <a:stretch>
            <a:fillRect/>
          </a:stretch>
        </p:blipFill>
        <p:spPr>
          <a:xfrm>
            <a:off x="9048147" y="2700866"/>
            <a:ext cx="2263318" cy="1456267"/>
          </a:xfrm>
          <a:prstGeom prst="rect">
            <a:avLst/>
          </a:prstGeom>
        </p:spPr>
      </p:pic>
      <p:sp>
        <p:nvSpPr>
          <p:cNvPr id="7" name="TextBox 6">
            <a:extLst>
              <a:ext uri="{FF2B5EF4-FFF2-40B4-BE49-F238E27FC236}">
                <a16:creationId xmlns:a16="http://schemas.microsoft.com/office/drawing/2014/main" id="{0C895F14-95FE-A69B-79F7-0C24C2064B71}"/>
              </a:ext>
            </a:extLst>
          </p:cNvPr>
          <p:cNvSpPr txBox="1"/>
          <p:nvPr/>
        </p:nvSpPr>
        <p:spPr>
          <a:xfrm>
            <a:off x="8568266" y="2304534"/>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45EE46FB-5E2E-7DD4-9573-52E6A60703B8}"/>
              </a:ext>
            </a:extLst>
          </p:cNvPr>
          <p:cNvSpPr txBox="1"/>
          <p:nvPr/>
        </p:nvSpPr>
        <p:spPr>
          <a:xfrm>
            <a:off x="1082563" y="6197600"/>
            <a:ext cx="73321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Lists teams that have never won a match</a:t>
            </a:r>
            <a:r>
              <a:rPr lang="en-US" dirty="0"/>
              <a:t>.</a:t>
            </a:r>
            <a:endParaRPr lang="en-IN" dirty="0"/>
          </a:p>
        </p:txBody>
      </p:sp>
    </p:spTree>
    <p:extLst>
      <p:ext uri="{BB962C8B-B14F-4D97-AF65-F5344CB8AC3E}">
        <p14:creationId xmlns:p14="http://schemas.microsoft.com/office/powerpoint/2010/main" val="2093558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EBAE2D3E-FD48-E358-60F4-5209866318AE}"/>
              </a:ext>
            </a:extLst>
          </p:cNvPr>
          <p:cNvSpPr/>
          <p:nvPr/>
        </p:nvSpPr>
        <p:spPr>
          <a:xfrm>
            <a:off x="558800" y="694267"/>
            <a:ext cx="4114801" cy="1794933"/>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25.Show batting + bowling contributions of all-rounders in a single query.</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B29A0C60-13EE-6525-837C-E47C2472BB39}"/>
              </a:ext>
            </a:extLst>
          </p:cNvPr>
          <p:cNvSpPr/>
          <p:nvPr/>
        </p:nvSpPr>
        <p:spPr>
          <a:xfrm>
            <a:off x="2387600" y="3429000"/>
            <a:ext cx="4722059" cy="2768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SUM(</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AS runs, SUM(</a:t>
            </a:r>
            <a:r>
              <a:rPr lang="en-US" dirty="0" err="1">
                <a:latin typeface="Times New Roman" panose="02020603050405020304" pitchFamily="18" charset="0"/>
                <a:cs typeface="Times New Roman" panose="02020603050405020304" pitchFamily="18" charset="0"/>
              </a:rPr>
              <a:t>bw.wickets</a:t>
            </a:r>
            <a:r>
              <a:rPr lang="en-US" dirty="0">
                <a:latin typeface="Times New Roman" panose="02020603050405020304" pitchFamily="18" charset="0"/>
                <a:cs typeface="Times New Roman" panose="02020603050405020304" pitchFamily="18" charset="0"/>
              </a:rPr>
              <a:t>) AS wickets</a:t>
            </a:r>
          </a:p>
          <a:p>
            <a:pPr algn="ctr"/>
            <a:r>
              <a:rPr lang="en-US" dirty="0">
                <a:latin typeface="Times New Roman" panose="02020603050405020304" pitchFamily="18" charset="0"/>
                <a:cs typeface="Times New Roman" panose="02020603050405020304" pitchFamily="18" charset="0"/>
              </a:rPr>
              <a:t>FROM Players p</a:t>
            </a:r>
          </a:p>
          <a:p>
            <a:pPr algn="ctr"/>
            <a:r>
              <a:rPr lang="en-US" dirty="0">
                <a:latin typeface="Times New Roman" panose="02020603050405020304" pitchFamily="18" charset="0"/>
                <a:cs typeface="Times New Roman" panose="02020603050405020304" pitchFamily="18" charset="0"/>
              </a:rPr>
              <a:t>LEFT JOIN Batting_Stats b ON </a:t>
            </a:r>
            <a:r>
              <a:rPr lang="en-US" dirty="0" err="1">
                <a:latin typeface="Times New Roman" panose="02020603050405020304" pitchFamily="18" charset="0"/>
                <a:cs typeface="Times New Roman" panose="02020603050405020304" pitchFamily="18" charset="0"/>
              </a:rPr>
              <a:t>p.player_id</a:t>
            </a:r>
            <a:r>
              <a:rPr lang="en-US" dirty="0">
                <a:latin typeface="Times New Roman" panose="02020603050405020304" pitchFamily="18" charset="0"/>
                <a:cs typeface="Times New Roman" panose="02020603050405020304" pitchFamily="18" charset="0"/>
              </a:rPr>
              <a:t> = b.player_id</a:t>
            </a:r>
          </a:p>
          <a:p>
            <a:pPr algn="ctr"/>
            <a:r>
              <a:rPr lang="en-US" dirty="0">
                <a:latin typeface="Times New Roman" panose="02020603050405020304" pitchFamily="18" charset="0"/>
                <a:cs typeface="Times New Roman" panose="02020603050405020304" pitchFamily="18" charset="0"/>
              </a:rPr>
              <a:t>LEFT JOIN </a:t>
            </a:r>
            <a:r>
              <a:rPr lang="en-US" dirty="0" err="1">
                <a:latin typeface="Times New Roman" panose="02020603050405020304" pitchFamily="18" charset="0"/>
                <a:cs typeface="Times New Roman" panose="02020603050405020304" pitchFamily="18" charset="0"/>
              </a:rPr>
              <a:t>Bowling_Stats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bw</a:t>
            </a:r>
            <a:r>
              <a:rPr lang="en-US" dirty="0">
                <a:latin typeface="Times New Roman" panose="02020603050405020304" pitchFamily="18" charset="0"/>
                <a:cs typeface="Times New Roman" panose="02020603050405020304" pitchFamily="18" charset="0"/>
              </a:rPr>
              <a:t> ON </a:t>
            </a:r>
            <a:r>
              <a:rPr lang="en-US" dirty="0" err="1">
                <a:latin typeface="Times New Roman" panose="02020603050405020304" pitchFamily="18" charset="0"/>
                <a:cs typeface="Times New Roman" panose="02020603050405020304" pitchFamily="18" charset="0"/>
              </a:rPr>
              <a:t>p.player_id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bw.player_id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p.role</a:t>
            </a:r>
            <a:r>
              <a:rPr lang="en-US" dirty="0">
                <a:latin typeface="Times New Roman" panose="02020603050405020304" pitchFamily="18" charset="0"/>
                <a:cs typeface="Times New Roman" panose="02020603050405020304" pitchFamily="18" charset="0"/>
              </a:rPr>
              <a:t> = 'All-rounder'</a:t>
            </a:r>
          </a:p>
          <a:p>
            <a:pPr algn="ctr"/>
            <a:r>
              <a:rPr lang="en-US" dirty="0">
                <a:latin typeface="Times New Roman" panose="02020603050405020304" pitchFamily="18" charset="0"/>
                <a:cs typeface="Times New Roman" panose="02020603050405020304" pitchFamily="18" charset="0"/>
              </a:rPr>
              <a:t>GROUP BY p.name;</a:t>
            </a:r>
          </a:p>
        </p:txBody>
      </p:sp>
      <p:pic>
        <p:nvPicPr>
          <p:cNvPr id="5" name="Picture 4">
            <a:extLst>
              <a:ext uri="{FF2B5EF4-FFF2-40B4-BE49-F238E27FC236}">
                <a16:creationId xmlns:a16="http://schemas.microsoft.com/office/drawing/2014/main" id="{2C1F94C6-B141-FDC3-1CC4-E9B4C63E751A}"/>
              </a:ext>
            </a:extLst>
          </p:cNvPr>
          <p:cNvPicPr>
            <a:picLocks noChangeAspect="1"/>
          </p:cNvPicPr>
          <p:nvPr/>
        </p:nvPicPr>
        <p:blipFill>
          <a:blip r:embed="rId2"/>
          <a:stretch>
            <a:fillRect/>
          </a:stretch>
        </p:blipFill>
        <p:spPr>
          <a:xfrm>
            <a:off x="8489283" y="2133419"/>
            <a:ext cx="3482583" cy="2997381"/>
          </a:xfrm>
          <a:prstGeom prst="rect">
            <a:avLst/>
          </a:prstGeom>
        </p:spPr>
      </p:pic>
      <p:sp>
        <p:nvSpPr>
          <p:cNvPr id="7" name="TextBox 6">
            <a:extLst>
              <a:ext uri="{FF2B5EF4-FFF2-40B4-BE49-F238E27FC236}">
                <a16:creationId xmlns:a16="http://schemas.microsoft.com/office/drawing/2014/main" id="{6EA73F6B-DBC0-9070-2823-668241EBF935}"/>
              </a:ext>
            </a:extLst>
          </p:cNvPr>
          <p:cNvSpPr txBox="1"/>
          <p:nvPr/>
        </p:nvSpPr>
        <p:spPr>
          <a:xfrm>
            <a:off x="7924800" y="1764087"/>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952445E8-849C-3274-5045-1A1BE955AAB8}"/>
              </a:ext>
            </a:extLst>
          </p:cNvPr>
          <p:cNvSpPr txBox="1"/>
          <p:nvPr/>
        </p:nvSpPr>
        <p:spPr>
          <a:xfrm>
            <a:off x="1243429" y="6197600"/>
            <a:ext cx="70104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Shows all-rounders’ total runs and wickets</a:t>
            </a:r>
            <a:r>
              <a:rPr lang="en-US" dirty="0"/>
              <a:t>.</a:t>
            </a:r>
            <a:endParaRPr lang="en-IN" dirty="0"/>
          </a:p>
        </p:txBody>
      </p:sp>
    </p:spTree>
    <p:extLst>
      <p:ext uri="{BB962C8B-B14F-4D97-AF65-F5344CB8AC3E}">
        <p14:creationId xmlns:p14="http://schemas.microsoft.com/office/powerpoint/2010/main" val="3291072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98CE0A11-B1EB-EEFB-2184-E1AD7BA42397}"/>
              </a:ext>
            </a:extLst>
          </p:cNvPr>
          <p:cNvSpPr/>
          <p:nvPr/>
        </p:nvSpPr>
        <p:spPr>
          <a:xfrm>
            <a:off x="558800" y="694267"/>
            <a:ext cx="4114801" cy="1794933"/>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26.List bowlers who dismissed at least 3 players in a match..</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BA416163-5630-CB8C-EE46-363DF2B8A0DB}"/>
              </a:ext>
            </a:extLst>
          </p:cNvPr>
          <p:cNvSpPr/>
          <p:nvPr/>
        </p:nvSpPr>
        <p:spPr>
          <a:xfrm>
            <a:off x="2387600" y="3429000"/>
            <a:ext cx="4722059" cy="2768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a:t>
            </a:r>
            <a:r>
              <a:rPr lang="en-US" dirty="0" err="1">
                <a:latin typeface="Times New Roman" panose="02020603050405020304" pitchFamily="18" charset="0"/>
                <a:cs typeface="Times New Roman" panose="02020603050405020304" pitchFamily="18" charset="0"/>
              </a:rPr>
              <a:t>bw.match_id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bw.wickets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a:t>
            </a:r>
            <a:r>
              <a:rPr lang="en-US" dirty="0" err="1">
                <a:latin typeface="Times New Roman" panose="02020603050405020304" pitchFamily="18" charset="0"/>
                <a:cs typeface="Times New Roman" panose="02020603050405020304" pitchFamily="18" charset="0"/>
              </a:rPr>
              <a:t>Bowling_Stats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bw</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JOIN Players p ON </a:t>
            </a:r>
            <a:r>
              <a:rPr lang="en-US" dirty="0" err="1">
                <a:latin typeface="Times New Roman" panose="02020603050405020304" pitchFamily="18" charset="0"/>
                <a:cs typeface="Times New Roman" panose="02020603050405020304" pitchFamily="18" charset="0"/>
              </a:rPr>
              <a:t>bw.player_id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bw.wickets</a:t>
            </a:r>
            <a:r>
              <a:rPr lang="en-US" dirty="0">
                <a:latin typeface="Times New Roman" panose="02020603050405020304" pitchFamily="18" charset="0"/>
                <a:cs typeface="Times New Roman" panose="02020603050405020304" pitchFamily="18" charset="0"/>
              </a:rPr>
              <a:t> &gt;= 3;</a:t>
            </a:r>
          </a:p>
        </p:txBody>
      </p:sp>
      <p:pic>
        <p:nvPicPr>
          <p:cNvPr id="5" name="Picture 4">
            <a:extLst>
              <a:ext uri="{FF2B5EF4-FFF2-40B4-BE49-F238E27FC236}">
                <a16:creationId xmlns:a16="http://schemas.microsoft.com/office/drawing/2014/main" id="{4C2CC611-B733-F779-C7E0-3ED377AD0A33}"/>
              </a:ext>
            </a:extLst>
          </p:cNvPr>
          <p:cNvPicPr>
            <a:picLocks noChangeAspect="1"/>
          </p:cNvPicPr>
          <p:nvPr/>
        </p:nvPicPr>
        <p:blipFill>
          <a:blip r:embed="rId2"/>
          <a:stretch>
            <a:fillRect/>
          </a:stretch>
        </p:blipFill>
        <p:spPr>
          <a:xfrm>
            <a:off x="8677649" y="1636593"/>
            <a:ext cx="3277284" cy="2969274"/>
          </a:xfrm>
          <a:prstGeom prst="rect">
            <a:avLst/>
          </a:prstGeom>
        </p:spPr>
      </p:pic>
      <p:sp>
        <p:nvSpPr>
          <p:cNvPr id="7" name="TextBox 6">
            <a:extLst>
              <a:ext uri="{FF2B5EF4-FFF2-40B4-BE49-F238E27FC236}">
                <a16:creationId xmlns:a16="http://schemas.microsoft.com/office/drawing/2014/main" id="{CEA2C90A-4685-E81C-E984-A2407E816C51}"/>
              </a:ext>
            </a:extLst>
          </p:cNvPr>
          <p:cNvSpPr txBox="1"/>
          <p:nvPr/>
        </p:nvSpPr>
        <p:spPr>
          <a:xfrm>
            <a:off x="8060266" y="1267261"/>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1346278F-F7ED-6D0A-0EA4-59A2D617E9D9}"/>
              </a:ext>
            </a:extLst>
          </p:cNvPr>
          <p:cNvSpPr txBox="1"/>
          <p:nvPr/>
        </p:nvSpPr>
        <p:spPr>
          <a:xfrm>
            <a:off x="1134535" y="6197600"/>
            <a:ext cx="70781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Lists bowlers who took at least 3 wickets in a match.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328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2876DC3F-CDFD-544F-2A22-426C06E25545}"/>
              </a:ext>
            </a:extLst>
          </p:cNvPr>
          <p:cNvSpPr/>
          <p:nvPr/>
        </p:nvSpPr>
        <p:spPr>
          <a:xfrm>
            <a:off x="558800" y="694267"/>
            <a:ext cx="4114801" cy="1794933"/>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27.Compare average runs per player per team.</a:t>
            </a:r>
            <a:endParaRPr lang="en-IN"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AF62DB51-3BBC-2023-15BF-B2CF39CC06FE}"/>
              </a:ext>
            </a:extLst>
          </p:cNvPr>
          <p:cNvSpPr/>
          <p:nvPr/>
        </p:nvSpPr>
        <p:spPr>
          <a:xfrm>
            <a:off x="2387600" y="3429000"/>
            <a:ext cx="4722059" cy="2768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a:t>
            </a:r>
            <a:r>
              <a:rPr lang="en-US" dirty="0" err="1">
                <a:latin typeface="Times New Roman" panose="02020603050405020304" pitchFamily="18" charset="0"/>
                <a:cs typeface="Times New Roman" panose="02020603050405020304" pitchFamily="18" charset="0"/>
              </a:rPr>
              <a:t>p.country</a:t>
            </a:r>
            <a:r>
              <a:rPr lang="en-US" dirty="0">
                <a:latin typeface="Times New Roman" panose="02020603050405020304" pitchFamily="18" charset="0"/>
                <a:cs typeface="Times New Roman" panose="02020603050405020304" pitchFamily="18" charset="0"/>
              </a:rPr>
              <a:t>, AVG(</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AS </a:t>
            </a:r>
            <a:r>
              <a:rPr lang="en-US" dirty="0" err="1">
                <a:latin typeface="Times New Roman" panose="02020603050405020304" pitchFamily="18" charset="0"/>
                <a:cs typeface="Times New Roman" panose="02020603050405020304" pitchFamily="18" charset="0"/>
              </a:rPr>
              <a:t>avg_runs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Players p</a:t>
            </a:r>
          </a:p>
          <a:p>
            <a:pPr algn="ctr"/>
            <a:r>
              <a:rPr lang="en-US" dirty="0">
                <a:latin typeface="Times New Roman" panose="02020603050405020304" pitchFamily="18" charset="0"/>
                <a:cs typeface="Times New Roman" panose="02020603050405020304" pitchFamily="18" charset="0"/>
              </a:rPr>
              <a:t>JOIN Batting_Stats b ON </a:t>
            </a:r>
          </a:p>
          <a:p>
            <a:pPr algn="ctr"/>
            <a:r>
              <a:rPr lang="en-US" dirty="0" err="1">
                <a:latin typeface="Times New Roman" panose="02020603050405020304" pitchFamily="18" charset="0"/>
                <a:cs typeface="Times New Roman" panose="02020603050405020304" pitchFamily="18" charset="0"/>
              </a:rPr>
              <a:t>p.player_id</a:t>
            </a:r>
            <a:r>
              <a:rPr lang="en-US" dirty="0">
                <a:latin typeface="Times New Roman" panose="02020603050405020304" pitchFamily="18" charset="0"/>
                <a:cs typeface="Times New Roman" panose="02020603050405020304" pitchFamily="18" charset="0"/>
              </a:rPr>
              <a:t> = b.player_id</a:t>
            </a:r>
          </a:p>
          <a:p>
            <a:pPr algn="ctr"/>
            <a:r>
              <a:rPr lang="en-US" dirty="0">
                <a:latin typeface="Times New Roman" panose="02020603050405020304" pitchFamily="18" charset="0"/>
                <a:cs typeface="Times New Roman" panose="02020603050405020304" pitchFamily="18" charset="0"/>
              </a:rPr>
              <a:t>GROUP BY </a:t>
            </a:r>
            <a:r>
              <a:rPr lang="en-US" dirty="0" err="1">
                <a:latin typeface="Times New Roman" panose="02020603050405020304" pitchFamily="18" charset="0"/>
                <a:cs typeface="Times New Roman" panose="02020603050405020304" pitchFamily="18" charset="0"/>
              </a:rPr>
              <a:t>p.country</a:t>
            </a:r>
            <a:r>
              <a:rPr lang="en-US"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6843CC33-0164-119F-C3A3-CB471CD2489B}"/>
              </a:ext>
            </a:extLst>
          </p:cNvPr>
          <p:cNvPicPr>
            <a:picLocks noChangeAspect="1"/>
          </p:cNvPicPr>
          <p:nvPr/>
        </p:nvPicPr>
        <p:blipFill>
          <a:blip r:embed="rId2"/>
          <a:stretch>
            <a:fillRect/>
          </a:stretch>
        </p:blipFill>
        <p:spPr>
          <a:xfrm>
            <a:off x="9149180" y="1771419"/>
            <a:ext cx="2484020" cy="3088448"/>
          </a:xfrm>
          <a:prstGeom prst="rect">
            <a:avLst/>
          </a:prstGeom>
        </p:spPr>
      </p:pic>
      <p:sp>
        <p:nvSpPr>
          <p:cNvPr id="7" name="TextBox 6">
            <a:extLst>
              <a:ext uri="{FF2B5EF4-FFF2-40B4-BE49-F238E27FC236}">
                <a16:creationId xmlns:a16="http://schemas.microsoft.com/office/drawing/2014/main" id="{A6F86E91-39F6-A0AB-B21A-A241C7298CC0}"/>
              </a:ext>
            </a:extLst>
          </p:cNvPr>
          <p:cNvSpPr txBox="1"/>
          <p:nvPr/>
        </p:nvSpPr>
        <p:spPr>
          <a:xfrm>
            <a:off x="1013659" y="632620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Calculates average runs per player per team</a:t>
            </a:r>
            <a:r>
              <a:rPr lang="en-US" dirty="0"/>
              <a:t>.</a:t>
            </a:r>
            <a:endParaRPr lang="en-IN" dirty="0"/>
          </a:p>
        </p:txBody>
      </p:sp>
      <p:sp>
        <p:nvSpPr>
          <p:cNvPr id="9" name="TextBox 8">
            <a:extLst>
              <a:ext uri="{FF2B5EF4-FFF2-40B4-BE49-F238E27FC236}">
                <a16:creationId xmlns:a16="http://schemas.microsoft.com/office/drawing/2014/main" id="{9E8A4309-7165-B82F-388A-FF3376B406B3}"/>
              </a:ext>
            </a:extLst>
          </p:cNvPr>
          <p:cNvSpPr txBox="1"/>
          <p:nvPr/>
        </p:nvSpPr>
        <p:spPr>
          <a:xfrm>
            <a:off x="8398934" y="1407067"/>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Tree>
    <p:extLst>
      <p:ext uri="{BB962C8B-B14F-4D97-AF65-F5344CB8AC3E}">
        <p14:creationId xmlns:p14="http://schemas.microsoft.com/office/powerpoint/2010/main" val="1733712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89B0F9A5-9B21-EA15-6FFC-21D0A9A948E7}"/>
              </a:ext>
            </a:extLst>
          </p:cNvPr>
          <p:cNvSpPr/>
          <p:nvPr/>
        </p:nvSpPr>
        <p:spPr>
          <a:xfrm>
            <a:off x="558800" y="694267"/>
            <a:ext cx="4114801" cy="1794933"/>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r>
              <a:rPr lang="en-US" dirty="0">
                <a:latin typeface="Times New Roman" panose="02020603050405020304" pitchFamily="18" charset="0"/>
                <a:cs typeface="Times New Roman" panose="02020603050405020304" pitchFamily="18" charset="0"/>
              </a:rPr>
              <a:t>28.Find average runs, rounded to 2 decimals</a:t>
            </a:r>
          </a:p>
        </p:txBody>
      </p:sp>
      <p:sp>
        <p:nvSpPr>
          <p:cNvPr id="3" name="Rectangle: Rounded Corners 2">
            <a:extLst>
              <a:ext uri="{FF2B5EF4-FFF2-40B4-BE49-F238E27FC236}">
                <a16:creationId xmlns:a16="http://schemas.microsoft.com/office/drawing/2014/main" id="{28FEE986-7E62-68D2-5F60-7ECE97C2C738}"/>
              </a:ext>
            </a:extLst>
          </p:cNvPr>
          <p:cNvSpPr/>
          <p:nvPr/>
        </p:nvSpPr>
        <p:spPr>
          <a:xfrm>
            <a:off x="2387600" y="3429000"/>
            <a:ext cx="4722059" cy="2768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p.name, ROUND(AVG(</a:t>
            </a:r>
            <a:r>
              <a:rPr lang="en-US" dirty="0" err="1">
                <a:latin typeface="Times New Roman" panose="02020603050405020304" pitchFamily="18" charset="0"/>
                <a:cs typeface="Times New Roman" panose="02020603050405020304" pitchFamily="18" charset="0"/>
              </a:rPr>
              <a:t>b.runs</a:t>
            </a:r>
            <a:r>
              <a:rPr lang="en-US" dirty="0">
                <a:latin typeface="Times New Roman" panose="02020603050405020304" pitchFamily="18" charset="0"/>
                <a:cs typeface="Times New Roman" panose="02020603050405020304" pitchFamily="18" charset="0"/>
              </a:rPr>
              <a:t>), 2) AS </a:t>
            </a:r>
            <a:r>
              <a:rPr lang="en-US" dirty="0" err="1">
                <a:latin typeface="Times New Roman" panose="02020603050405020304" pitchFamily="18" charset="0"/>
                <a:cs typeface="Times New Roman" panose="02020603050405020304" pitchFamily="18" charset="0"/>
              </a:rPr>
              <a:t>avg_runs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Batting_Stats b</a:t>
            </a:r>
          </a:p>
          <a:p>
            <a:pPr algn="ctr"/>
            <a:r>
              <a:rPr lang="en-US" dirty="0">
                <a:latin typeface="Times New Roman" panose="02020603050405020304" pitchFamily="18" charset="0"/>
                <a:cs typeface="Times New Roman" panose="02020603050405020304" pitchFamily="18" charset="0"/>
              </a:rPr>
              <a:t>JOIN Players p ON </a:t>
            </a:r>
          </a:p>
          <a:p>
            <a:pPr algn="ctr"/>
            <a:r>
              <a:rPr lang="en-US" dirty="0">
                <a:latin typeface="Times New Roman" panose="02020603050405020304" pitchFamily="18" charset="0"/>
                <a:cs typeface="Times New Roman" panose="02020603050405020304" pitchFamily="18" charset="0"/>
              </a:rPr>
              <a:t>b.player_id = </a:t>
            </a:r>
            <a:r>
              <a:rPr lang="en-US" dirty="0" err="1">
                <a:latin typeface="Times New Roman" panose="02020603050405020304" pitchFamily="18" charset="0"/>
                <a:cs typeface="Times New Roman" panose="02020603050405020304" pitchFamily="18" charset="0"/>
              </a:rPr>
              <a:t>p.player_id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GROUP BY p.name;;</a:t>
            </a:r>
          </a:p>
        </p:txBody>
      </p:sp>
      <p:pic>
        <p:nvPicPr>
          <p:cNvPr id="5" name="Picture 4">
            <a:extLst>
              <a:ext uri="{FF2B5EF4-FFF2-40B4-BE49-F238E27FC236}">
                <a16:creationId xmlns:a16="http://schemas.microsoft.com/office/drawing/2014/main" id="{0CAF3407-798A-D37D-498F-09B82E3D357E}"/>
              </a:ext>
            </a:extLst>
          </p:cNvPr>
          <p:cNvPicPr>
            <a:picLocks noChangeAspect="1"/>
          </p:cNvPicPr>
          <p:nvPr/>
        </p:nvPicPr>
        <p:blipFill>
          <a:blip r:embed="rId2"/>
          <a:stretch>
            <a:fillRect/>
          </a:stretch>
        </p:blipFill>
        <p:spPr>
          <a:xfrm>
            <a:off x="8906934" y="1354667"/>
            <a:ext cx="3115734" cy="3005666"/>
          </a:xfrm>
          <a:prstGeom prst="rect">
            <a:avLst/>
          </a:prstGeom>
        </p:spPr>
      </p:pic>
      <p:sp>
        <p:nvSpPr>
          <p:cNvPr id="7" name="TextBox 6">
            <a:extLst>
              <a:ext uri="{FF2B5EF4-FFF2-40B4-BE49-F238E27FC236}">
                <a16:creationId xmlns:a16="http://schemas.microsoft.com/office/drawing/2014/main" id="{B2624ADB-7AA8-1D50-9E7E-5DB39C0FFCDA}"/>
              </a:ext>
            </a:extLst>
          </p:cNvPr>
          <p:cNvSpPr txBox="1"/>
          <p:nvPr/>
        </p:nvSpPr>
        <p:spPr>
          <a:xfrm>
            <a:off x="8415867" y="985335"/>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E47D50CB-E6ED-BD42-FE7C-D86EAF9CC1F7}"/>
              </a:ext>
            </a:extLst>
          </p:cNvPr>
          <p:cNvSpPr txBox="1"/>
          <p:nvPr/>
        </p:nvSpPr>
        <p:spPr>
          <a:xfrm>
            <a:off x="1159936" y="6343134"/>
            <a:ext cx="72559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Shows average runs per player, rounded to 2 decimals.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469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A207F445-85F8-91B8-FC53-9237FC15B6BC}"/>
              </a:ext>
            </a:extLst>
          </p:cNvPr>
          <p:cNvSpPr/>
          <p:nvPr/>
        </p:nvSpPr>
        <p:spPr>
          <a:xfrm>
            <a:off x="626533" y="694267"/>
            <a:ext cx="4114801" cy="1794933"/>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r>
              <a:rPr lang="en-US" dirty="0">
                <a:latin typeface="Times New Roman" panose="02020603050405020304" pitchFamily="18" charset="0"/>
                <a:cs typeface="Times New Roman" panose="02020603050405020304" pitchFamily="18" charset="0"/>
              </a:rPr>
              <a:t>29.Extract month from match date</a:t>
            </a:r>
          </a:p>
        </p:txBody>
      </p:sp>
      <p:sp>
        <p:nvSpPr>
          <p:cNvPr id="3" name="Rectangle: Rounded Corners 2">
            <a:extLst>
              <a:ext uri="{FF2B5EF4-FFF2-40B4-BE49-F238E27FC236}">
                <a16:creationId xmlns:a16="http://schemas.microsoft.com/office/drawing/2014/main" id="{8DAEFEEF-5A7D-E15B-6393-567946BFDF19}"/>
              </a:ext>
            </a:extLst>
          </p:cNvPr>
          <p:cNvSpPr/>
          <p:nvPr/>
        </p:nvSpPr>
        <p:spPr>
          <a:xfrm>
            <a:off x="2380304" y="3429000"/>
            <a:ext cx="4722059" cy="2768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match_id, DATE_FORMAT</a:t>
            </a:r>
          </a:p>
          <a:p>
            <a:pPr algn="ctr"/>
            <a:r>
              <a:rPr lang="en-US" dirty="0">
                <a:latin typeface="Times New Roman" panose="02020603050405020304" pitchFamily="18" charset="0"/>
                <a:cs typeface="Times New Roman" panose="02020603050405020304" pitchFamily="18" charset="0"/>
              </a:rPr>
              <a:t>(date, '%M %Y') AS </a:t>
            </a:r>
            <a:r>
              <a:rPr lang="en-US" dirty="0" err="1">
                <a:latin typeface="Times New Roman" panose="02020603050405020304" pitchFamily="18" charset="0"/>
                <a:cs typeface="Times New Roman" panose="02020603050405020304" pitchFamily="18" charset="0"/>
              </a:rPr>
              <a:t>match_month</a:t>
            </a:r>
            <a:r>
              <a:rPr lang="en-US" dirty="0">
                <a:latin typeface="Times New Roman" panose="02020603050405020304" pitchFamily="18" charset="0"/>
                <a:cs typeface="Times New Roman" panose="02020603050405020304" pitchFamily="18" charset="0"/>
              </a:rPr>
              <a:t>, venue</a:t>
            </a:r>
          </a:p>
          <a:p>
            <a:pPr algn="ctr"/>
            <a:r>
              <a:rPr lang="en-US" dirty="0">
                <a:latin typeface="Times New Roman" panose="02020603050405020304" pitchFamily="18" charset="0"/>
                <a:cs typeface="Times New Roman" panose="02020603050405020304" pitchFamily="18" charset="0"/>
              </a:rPr>
              <a:t>FROM Matches;</a:t>
            </a:r>
          </a:p>
        </p:txBody>
      </p:sp>
      <p:pic>
        <p:nvPicPr>
          <p:cNvPr id="5" name="Picture 4">
            <a:extLst>
              <a:ext uri="{FF2B5EF4-FFF2-40B4-BE49-F238E27FC236}">
                <a16:creationId xmlns:a16="http://schemas.microsoft.com/office/drawing/2014/main" id="{D5C5DD24-2086-42D2-8D35-49CE0FAA9D90}"/>
              </a:ext>
            </a:extLst>
          </p:cNvPr>
          <p:cNvPicPr>
            <a:picLocks noChangeAspect="1"/>
          </p:cNvPicPr>
          <p:nvPr/>
        </p:nvPicPr>
        <p:blipFill>
          <a:blip r:embed="rId2"/>
          <a:stretch>
            <a:fillRect/>
          </a:stretch>
        </p:blipFill>
        <p:spPr>
          <a:xfrm>
            <a:off x="7450667" y="1427014"/>
            <a:ext cx="4453465" cy="3449786"/>
          </a:xfrm>
          <a:prstGeom prst="rect">
            <a:avLst/>
          </a:prstGeom>
        </p:spPr>
      </p:pic>
      <p:sp>
        <p:nvSpPr>
          <p:cNvPr id="7" name="TextBox 6">
            <a:extLst>
              <a:ext uri="{FF2B5EF4-FFF2-40B4-BE49-F238E27FC236}">
                <a16:creationId xmlns:a16="http://schemas.microsoft.com/office/drawing/2014/main" id="{200BE22E-DABF-2911-2EDB-CA0277E19FD6}"/>
              </a:ext>
            </a:extLst>
          </p:cNvPr>
          <p:cNvSpPr txBox="1"/>
          <p:nvPr/>
        </p:nvSpPr>
        <p:spPr>
          <a:xfrm>
            <a:off x="7102363" y="1057682"/>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53247B5E-F683-F28D-B69C-0D30B4528C04}"/>
              </a:ext>
            </a:extLst>
          </p:cNvPr>
          <p:cNvSpPr txBox="1"/>
          <p:nvPr/>
        </p:nvSpPr>
        <p:spPr>
          <a:xfrm>
            <a:off x="855135" y="6360067"/>
            <a:ext cx="65955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Converts date into “September 2023” style format</a:t>
            </a:r>
            <a:r>
              <a:rPr lang="en-US" dirty="0"/>
              <a:t>.</a:t>
            </a:r>
            <a:endParaRPr lang="en-IN" dirty="0"/>
          </a:p>
        </p:txBody>
      </p:sp>
    </p:spTree>
    <p:extLst>
      <p:ext uri="{BB962C8B-B14F-4D97-AF65-F5344CB8AC3E}">
        <p14:creationId xmlns:p14="http://schemas.microsoft.com/office/powerpoint/2010/main" val="139104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5E7E9B1A-4FB5-737C-294E-D60ACD5317CB}"/>
              </a:ext>
            </a:extLst>
          </p:cNvPr>
          <p:cNvSpPr/>
          <p:nvPr/>
        </p:nvSpPr>
        <p:spPr>
          <a:xfrm>
            <a:off x="626533" y="694267"/>
            <a:ext cx="4114801" cy="1794933"/>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r>
              <a:rPr lang="en-US" dirty="0">
                <a:latin typeface="Times New Roman" panose="02020603050405020304" pitchFamily="18" charset="0"/>
                <a:cs typeface="Times New Roman" panose="02020603050405020304" pitchFamily="18" charset="0"/>
              </a:rPr>
              <a:t>30.COALESCE for missing bowling styles</a:t>
            </a:r>
          </a:p>
        </p:txBody>
      </p:sp>
      <p:sp>
        <p:nvSpPr>
          <p:cNvPr id="3" name="Rectangle: Rounded Corners 2">
            <a:extLst>
              <a:ext uri="{FF2B5EF4-FFF2-40B4-BE49-F238E27FC236}">
                <a16:creationId xmlns:a16="http://schemas.microsoft.com/office/drawing/2014/main" id="{E0977215-287D-EEBC-2A88-10388090BF3E}"/>
              </a:ext>
            </a:extLst>
          </p:cNvPr>
          <p:cNvSpPr/>
          <p:nvPr/>
        </p:nvSpPr>
        <p:spPr>
          <a:xfrm>
            <a:off x="2380304" y="3429000"/>
            <a:ext cx="4562363" cy="197273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name, COALESCE(bowling_style, 'Not a bowler') AS </a:t>
            </a:r>
            <a:r>
              <a:rPr lang="en-US" dirty="0" err="1">
                <a:latin typeface="Times New Roman" panose="02020603050405020304" pitchFamily="18" charset="0"/>
                <a:cs typeface="Times New Roman" panose="02020603050405020304" pitchFamily="18" charset="0"/>
              </a:rPr>
              <a:t>bowling_info</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Players;</a:t>
            </a:r>
          </a:p>
        </p:txBody>
      </p:sp>
      <p:pic>
        <p:nvPicPr>
          <p:cNvPr id="5" name="Picture 4">
            <a:extLst>
              <a:ext uri="{FF2B5EF4-FFF2-40B4-BE49-F238E27FC236}">
                <a16:creationId xmlns:a16="http://schemas.microsoft.com/office/drawing/2014/main" id="{7C9EE8E3-E198-5373-E07D-2A9D36E7E29C}"/>
              </a:ext>
            </a:extLst>
          </p:cNvPr>
          <p:cNvPicPr>
            <a:picLocks noChangeAspect="1"/>
          </p:cNvPicPr>
          <p:nvPr/>
        </p:nvPicPr>
        <p:blipFill>
          <a:blip r:embed="rId2"/>
          <a:stretch>
            <a:fillRect/>
          </a:stretch>
        </p:blipFill>
        <p:spPr>
          <a:xfrm>
            <a:off x="8544302" y="1816481"/>
            <a:ext cx="3461432" cy="3805386"/>
          </a:xfrm>
          <a:prstGeom prst="rect">
            <a:avLst/>
          </a:prstGeom>
        </p:spPr>
      </p:pic>
      <p:sp>
        <p:nvSpPr>
          <p:cNvPr id="7" name="TextBox 6">
            <a:extLst>
              <a:ext uri="{FF2B5EF4-FFF2-40B4-BE49-F238E27FC236}">
                <a16:creationId xmlns:a16="http://schemas.microsoft.com/office/drawing/2014/main" id="{A64A0E31-93B9-559B-F14F-D1FD442656C4}"/>
              </a:ext>
            </a:extLst>
          </p:cNvPr>
          <p:cNvSpPr txBox="1"/>
          <p:nvPr/>
        </p:nvSpPr>
        <p:spPr>
          <a:xfrm>
            <a:off x="8009467" y="1447149"/>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9" name="TextBox 8">
            <a:extLst>
              <a:ext uri="{FF2B5EF4-FFF2-40B4-BE49-F238E27FC236}">
                <a16:creationId xmlns:a16="http://schemas.microsoft.com/office/drawing/2014/main" id="{11A7B1EA-272C-CA21-7A40-3A0B9274E64B}"/>
              </a:ext>
            </a:extLst>
          </p:cNvPr>
          <p:cNvSpPr txBox="1"/>
          <p:nvPr/>
        </p:nvSpPr>
        <p:spPr>
          <a:xfrm>
            <a:off x="956735" y="5972201"/>
            <a:ext cx="705273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Replaces NULL bowling_style with “Not a bowler”.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1504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611136D5-62BE-429B-A23D-EAD67CDB9553}"/>
              </a:ext>
            </a:extLst>
          </p:cNvPr>
          <p:cNvSpPr/>
          <p:nvPr/>
        </p:nvSpPr>
        <p:spPr>
          <a:xfrm>
            <a:off x="626533" y="694267"/>
            <a:ext cx="4114801" cy="1794933"/>
          </a:xfrm>
          <a:prstGeom prst="cloud">
            <a:avLst/>
          </a:prstGeom>
        </p:spPr>
        <p:style>
          <a:lnRef idx="1">
            <a:schemeClr val="dk1"/>
          </a:lnRef>
          <a:fillRef idx="2">
            <a:schemeClr val="dk1"/>
          </a:fillRef>
          <a:effectRef idx="1">
            <a:schemeClr val="dk1"/>
          </a:effectRef>
          <a:fontRef idx="minor">
            <a:schemeClr val="dk1"/>
          </a:fontRef>
        </p:style>
        <p:txBody>
          <a:bodyPr rtlCol="0" anchor="ctr"/>
          <a:lstStyle/>
          <a:p>
            <a:r>
              <a:rPr lang="en-US" dirty="0">
                <a:latin typeface="Times New Roman" panose="02020603050405020304" pitchFamily="18" charset="0"/>
                <a:cs typeface="Times New Roman" panose="02020603050405020304" pitchFamily="18" charset="0"/>
              </a:rPr>
              <a:t>31.Use SUBSTRING to shorten player names</a:t>
            </a:r>
          </a:p>
        </p:txBody>
      </p:sp>
      <p:sp>
        <p:nvSpPr>
          <p:cNvPr id="3" name="Rectangle: Rounded Corners 2">
            <a:extLst>
              <a:ext uri="{FF2B5EF4-FFF2-40B4-BE49-F238E27FC236}">
                <a16:creationId xmlns:a16="http://schemas.microsoft.com/office/drawing/2014/main" id="{29461F7B-847A-D8F4-02EF-9A70749DDE6B}"/>
              </a:ext>
            </a:extLst>
          </p:cNvPr>
          <p:cNvSpPr/>
          <p:nvPr/>
        </p:nvSpPr>
        <p:spPr>
          <a:xfrm>
            <a:off x="2380304" y="3429000"/>
            <a:ext cx="4562363" cy="197273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SELECT name, SUBSTRING(name, 1, 5) AS </a:t>
            </a:r>
            <a:r>
              <a:rPr lang="en-US" dirty="0" err="1">
                <a:latin typeface="Times New Roman" panose="02020603050405020304" pitchFamily="18" charset="0"/>
                <a:cs typeface="Times New Roman" panose="02020603050405020304" pitchFamily="18" charset="0"/>
              </a:rPr>
              <a:t>short_name</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FROM Players;</a:t>
            </a:r>
          </a:p>
        </p:txBody>
      </p:sp>
      <p:pic>
        <p:nvPicPr>
          <p:cNvPr id="7" name="Picture 6">
            <a:extLst>
              <a:ext uri="{FF2B5EF4-FFF2-40B4-BE49-F238E27FC236}">
                <a16:creationId xmlns:a16="http://schemas.microsoft.com/office/drawing/2014/main" id="{6AF0CBDB-5EF3-2555-88E4-A9FBA066535A}"/>
              </a:ext>
            </a:extLst>
          </p:cNvPr>
          <p:cNvPicPr>
            <a:picLocks noChangeAspect="1"/>
          </p:cNvPicPr>
          <p:nvPr/>
        </p:nvPicPr>
        <p:blipFill>
          <a:blip r:embed="rId2"/>
          <a:stretch>
            <a:fillRect/>
          </a:stretch>
        </p:blipFill>
        <p:spPr>
          <a:xfrm>
            <a:off x="7973114" y="1803251"/>
            <a:ext cx="3761686" cy="3344482"/>
          </a:xfrm>
          <a:prstGeom prst="rect">
            <a:avLst/>
          </a:prstGeom>
        </p:spPr>
      </p:pic>
      <p:sp>
        <p:nvSpPr>
          <p:cNvPr id="9" name="TextBox 8">
            <a:extLst>
              <a:ext uri="{FF2B5EF4-FFF2-40B4-BE49-F238E27FC236}">
                <a16:creationId xmlns:a16="http://schemas.microsoft.com/office/drawing/2014/main" id="{13B4B33D-9450-A718-CA44-51F1BADCC25F}"/>
              </a:ext>
            </a:extLst>
          </p:cNvPr>
          <p:cNvSpPr txBox="1"/>
          <p:nvPr/>
        </p:nvSpPr>
        <p:spPr>
          <a:xfrm>
            <a:off x="7789333" y="1407067"/>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
        <p:nvSpPr>
          <p:cNvPr id="11" name="TextBox 10">
            <a:extLst>
              <a:ext uri="{FF2B5EF4-FFF2-40B4-BE49-F238E27FC236}">
                <a16:creationId xmlns:a16="http://schemas.microsoft.com/office/drawing/2014/main" id="{66BA65E9-7A8F-CCD0-4EBD-FC6232AE9FA5}"/>
              </a:ext>
            </a:extLst>
          </p:cNvPr>
          <p:cNvSpPr txBox="1"/>
          <p:nvPr/>
        </p:nvSpPr>
        <p:spPr>
          <a:xfrm>
            <a:off x="1190152" y="6087533"/>
            <a:ext cx="6942666" cy="369332"/>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Shows first 5 letters of each player’s name</a:t>
            </a:r>
            <a:r>
              <a:rPr lang="en-US" dirty="0"/>
              <a:t>.</a:t>
            </a:r>
          </a:p>
        </p:txBody>
      </p:sp>
    </p:spTree>
    <p:extLst>
      <p:ext uri="{BB962C8B-B14F-4D97-AF65-F5344CB8AC3E}">
        <p14:creationId xmlns:p14="http://schemas.microsoft.com/office/powerpoint/2010/main" val="4117916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645325-0E1B-594F-2EB0-702313AEDABC}"/>
              </a:ext>
            </a:extLst>
          </p:cNvPr>
          <p:cNvSpPr txBox="1"/>
          <p:nvPr/>
        </p:nvSpPr>
        <p:spPr>
          <a:xfrm>
            <a:off x="2959640" y="0"/>
            <a:ext cx="6094378"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ER Diagram</a:t>
            </a:r>
          </a:p>
        </p:txBody>
      </p:sp>
      <p:pic>
        <p:nvPicPr>
          <p:cNvPr id="5" name="Picture 4">
            <a:extLst>
              <a:ext uri="{FF2B5EF4-FFF2-40B4-BE49-F238E27FC236}">
                <a16:creationId xmlns:a16="http://schemas.microsoft.com/office/drawing/2014/main" id="{1EE8043D-FFC4-9C56-D588-844E123EE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397" y="646331"/>
            <a:ext cx="10525326" cy="6085210"/>
          </a:xfrm>
          <a:prstGeom prst="rect">
            <a:avLst/>
          </a:prstGeom>
        </p:spPr>
      </p:pic>
    </p:spTree>
    <p:extLst>
      <p:ext uri="{BB962C8B-B14F-4D97-AF65-F5344CB8AC3E}">
        <p14:creationId xmlns:p14="http://schemas.microsoft.com/office/powerpoint/2010/main" val="12722932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3B8747-7639-7B3E-9813-C1C9DA3497CB}"/>
              </a:ext>
            </a:extLst>
          </p:cNvPr>
          <p:cNvSpPr txBox="1"/>
          <p:nvPr/>
        </p:nvSpPr>
        <p:spPr>
          <a:xfrm>
            <a:off x="4199467" y="230201"/>
            <a:ext cx="609600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CONCLUSION</a:t>
            </a:r>
            <a:r>
              <a:rPr lang="en-IN" sz="36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ED148872-CA3B-90C6-7F18-DF0E78133502}"/>
              </a:ext>
            </a:extLst>
          </p:cNvPr>
          <p:cNvSpPr txBox="1"/>
          <p:nvPr/>
        </p:nvSpPr>
        <p:spPr>
          <a:xfrm>
            <a:off x="127000" y="933933"/>
            <a:ext cx="11938000" cy="5693866"/>
          </a:xfrm>
          <a:prstGeom prst="rect">
            <a:avLst/>
          </a:prstGeom>
          <a:noFill/>
        </p:spPr>
        <p:txBody>
          <a:bodyPr wrap="square">
            <a:spAutoFit/>
          </a:bodyPr>
          <a:lstStyle/>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This project successfully demonstrates how SQL can be used to design, create, and manage a relational database for the game of cricket.</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We created multiple interconnected tables such as </a:t>
            </a:r>
            <a:r>
              <a:rPr lang="en-US" sz="2600" b="1" dirty="0">
                <a:latin typeface="Times New Roman" panose="02020603050405020304" pitchFamily="18" charset="0"/>
                <a:cs typeface="Times New Roman" panose="02020603050405020304" pitchFamily="18" charset="0"/>
              </a:rPr>
              <a:t>Teams, Players, Matches, Batting_Stats, and Bowling_Stats</a:t>
            </a:r>
            <a:r>
              <a:rPr lang="en-US" sz="2600" dirty="0">
                <a:latin typeface="Times New Roman" panose="02020603050405020304" pitchFamily="18" charset="0"/>
                <a:cs typeface="Times New Roman" panose="02020603050405020304" pitchFamily="18" charset="0"/>
              </a:rPr>
              <a:t>, and applied </a:t>
            </a:r>
            <a:r>
              <a:rPr lang="en-US" sz="2600" b="1" dirty="0">
                <a:latin typeface="Times New Roman" panose="02020603050405020304" pitchFamily="18" charset="0"/>
                <a:cs typeface="Times New Roman" panose="02020603050405020304" pitchFamily="18" charset="0"/>
              </a:rPr>
              <a:t>Primary Keys and Foreign Keys</a:t>
            </a:r>
            <a:r>
              <a:rPr lang="en-US" sz="2600" dirty="0">
                <a:latin typeface="Times New Roman" panose="02020603050405020304" pitchFamily="18" charset="0"/>
                <a:cs typeface="Times New Roman" panose="02020603050405020304" pitchFamily="18" charset="0"/>
              </a:rPr>
              <a:t> to ensure data consistency and integrity, through various SQL queries, we retrieved both detailed and summarized insights, proving how relational databases can efficiently organize and analyze cricket data. These queries included team-wise statistics, player performances, match outcomes, and comparative analyses between different entities.</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Entity–Relationship (ER) Diagram</a:t>
            </a:r>
            <a:r>
              <a:rPr lang="en-US" sz="2600" dirty="0">
                <a:latin typeface="Times New Roman" panose="02020603050405020304" pitchFamily="18" charset="0"/>
                <a:cs typeface="Times New Roman" panose="02020603050405020304" pitchFamily="18" charset="0"/>
              </a:rPr>
              <a:t> clearly represents the relationships between teams, players, matches, and their statistics, making the system easy to understand and use.</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Overall, this project highlights the importance of database management in sports analytics -enabling efficient data storage, ensuring accuracy, and providing fast retrieval for reports, insights, and decision-making</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49396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3C7344-3416-0E66-89CA-3890B506B88D}"/>
              </a:ext>
            </a:extLst>
          </p:cNvPr>
          <p:cNvSpPr txBox="1"/>
          <p:nvPr/>
        </p:nvSpPr>
        <p:spPr>
          <a:xfrm>
            <a:off x="2489200" y="2719401"/>
            <a:ext cx="7382933" cy="1400383"/>
          </a:xfrm>
          <a:prstGeom prst="rect">
            <a:avLst/>
          </a:prstGeom>
          <a:noFill/>
        </p:spPr>
        <p:txBody>
          <a:bodyPr wrap="square">
            <a:spAutoFit/>
          </a:bodyPr>
          <a:lstStyle/>
          <a:p>
            <a:r>
              <a:rPr lang="en-US" sz="8500" b="1" u="sng" dirty="0">
                <a:solidFill>
                  <a:schemeClr val="tx1"/>
                </a:solidFill>
                <a:latin typeface="Times New Roman" panose="02020603050405020304" pitchFamily="18" charset="0"/>
                <a:cs typeface="Times New Roman" panose="02020603050405020304" pitchFamily="18" charset="0"/>
              </a:rPr>
              <a:t>THANK YOU</a:t>
            </a:r>
            <a:endParaRPr lang="en-IN" sz="85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0727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TotalTime>
  <Words>2250</Words>
  <Application>Microsoft Office PowerPoint</Application>
  <PresentationFormat>Widescreen</PresentationFormat>
  <Paragraphs>267</Paragraphs>
  <Slides>39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Sailikith Vadlakonda</dc:creator>
  <cp:lastModifiedBy>Sailikith Vadlakonda</cp:lastModifiedBy>
  <cp:revision>3</cp:revision>
  <dcterms:created xsi:type="dcterms:W3CDTF">2025-09-15T16:25:35Z</dcterms:created>
  <dcterms:modified xsi:type="dcterms:W3CDTF">2025-09-15T18:50:50Z</dcterms:modified>
</cp:coreProperties>
</file>